
<file path=[Content_Types].xml><?xml version="1.0" encoding="utf-8"?>
<Types xmlns="http://schemas.openxmlformats.org/package/2006/content-types">
  <Default ContentType="application/x-fontdata" Extension="fntdata"/>
  <Default ContentType="image/gif" Extension="gif"/>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20574000"/>
  <p:notesSz cx="6858000" cy="9144000"/>
  <p:embeddedFontLst>
    <p:embeddedFont>
      <p:font typeface="Montserrat" charset="1" panose="00000500000000000000"/>
      <p:regular r:id="rId29"/>
    </p:embeddedFont>
    <p:embeddedFont>
      <p:font typeface="Montserrat Bold" charset="1" panose="00000800000000000000"/>
      <p:regular r:id="rId30"/>
    </p:embeddedFont>
    <p:embeddedFont>
      <p:font typeface="Montserrat Italics" charset="1" panose="000005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fonts/font36.fntdata" Type="http://schemas.openxmlformats.org/officeDocument/2006/relationships/font"/><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49" Target="notesSlides/notesSlide19.xml" Type="http://schemas.openxmlformats.org/officeDocument/2006/relationships/notesSlide"/><Relationship Id="rId5" Target="tableStyles.xml" Type="http://schemas.openxmlformats.org/officeDocument/2006/relationships/tableStyles"/><Relationship Id="rId50"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4.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4.png" Type="http://schemas.openxmlformats.org/officeDocument/2006/relationships/image"/><Relationship Id="rId9"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 Id="rId4" Target="../media/image15.jpeg" Type="http://schemas.openxmlformats.org/officeDocument/2006/relationships/image"/><Relationship Id="rId5" Target="../media/VAHQM7DC5Vk.mp4" Type="http://schemas.openxmlformats.org/officeDocument/2006/relationships/video"/><Relationship Id="rId6" Target="../media/VAHQM7DC5Vk.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6.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4.png" Type="http://schemas.openxmlformats.org/officeDocument/2006/relationships/image"/><Relationship Id="rId8"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png" Type="http://schemas.openxmlformats.org/officeDocument/2006/relationships/image"/><Relationship Id="rId4"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png" Type="http://schemas.openxmlformats.org/officeDocument/2006/relationships/image"/><Relationship Id="rId4"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png" Type="http://schemas.openxmlformats.org/officeDocument/2006/relationships/image"/><Relationship Id="rId4"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png" Type="http://schemas.openxmlformats.org/officeDocument/2006/relationships/image"/><Relationship Id="rId4"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png" Type="http://schemas.openxmlformats.org/officeDocument/2006/relationships/image"/><Relationship Id="rId4" Target="../media/image28.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png" Type="http://schemas.openxmlformats.org/officeDocument/2006/relationships/image"/><Relationship Id="rId4" Target="../media/image29.gif" Type="http://schemas.openxmlformats.org/officeDocument/2006/relationships/image"/><Relationship Id="rId5" Target="../media/image30.gif"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 Id="rId4" Target="../media/image29.gif" Type="http://schemas.openxmlformats.org/officeDocument/2006/relationships/image"/><Relationship Id="rId5" Target="../media/image30.gif"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3071812" y="12160795"/>
            <a:ext cx="5786438" cy="2478881"/>
            <a:chOff x="0" y="0"/>
            <a:chExt cx="7715250" cy="3305175"/>
          </a:xfrm>
        </p:grpSpPr>
        <p:sp>
          <p:nvSpPr>
            <p:cNvPr name="Freeform 5" id="5" descr="image.png"/>
            <p:cNvSpPr/>
            <p:nvPr/>
          </p:nvSpPr>
          <p:spPr>
            <a:xfrm flipH="false" flipV="false" rot="0">
              <a:off x="0" y="0"/>
              <a:ext cx="7715250" cy="3305175"/>
            </a:xfrm>
            <a:custGeom>
              <a:avLst/>
              <a:gdLst/>
              <a:ahLst/>
              <a:cxnLst/>
              <a:rect r="r" b="b" t="t" l="l"/>
              <a:pathLst>
                <a:path h="3305175" w="7715250">
                  <a:moveTo>
                    <a:pt x="0" y="0"/>
                  </a:moveTo>
                  <a:lnTo>
                    <a:pt x="7715250" y="0"/>
                  </a:lnTo>
                  <a:lnTo>
                    <a:pt x="7715250" y="3305175"/>
                  </a:lnTo>
                  <a:lnTo>
                    <a:pt x="0" y="3305175"/>
                  </a:lnTo>
                  <a:lnTo>
                    <a:pt x="0" y="0"/>
                  </a:lnTo>
                  <a:close/>
                </a:path>
              </a:pathLst>
            </a:custGeom>
            <a:blipFill>
              <a:blip r:embed="rId4"/>
              <a:stretch>
                <a:fillRect l="0" t="0" r="0" b="-864"/>
              </a:stretch>
            </a:blipFill>
          </p:spPr>
        </p:sp>
      </p:grpSp>
      <p:grpSp>
        <p:nvGrpSpPr>
          <p:cNvPr name="Group 6" id="6"/>
          <p:cNvGrpSpPr/>
          <p:nvPr/>
        </p:nvGrpSpPr>
        <p:grpSpPr>
          <a:xfrm rot="0">
            <a:off x="9429750" y="12160795"/>
            <a:ext cx="5786438" cy="2478881"/>
            <a:chOff x="0" y="0"/>
            <a:chExt cx="7715250" cy="3305175"/>
          </a:xfrm>
        </p:grpSpPr>
        <p:sp>
          <p:nvSpPr>
            <p:cNvPr name="Freeform 7" id="7" descr="image.png"/>
            <p:cNvSpPr/>
            <p:nvPr/>
          </p:nvSpPr>
          <p:spPr>
            <a:xfrm flipH="false" flipV="false" rot="0">
              <a:off x="0" y="0"/>
              <a:ext cx="7715250" cy="3305175"/>
            </a:xfrm>
            <a:custGeom>
              <a:avLst/>
              <a:gdLst/>
              <a:ahLst/>
              <a:cxnLst/>
              <a:rect r="r" b="b" t="t" l="l"/>
              <a:pathLst>
                <a:path h="3305175" w="7715250">
                  <a:moveTo>
                    <a:pt x="0" y="0"/>
                  </a:moveTo>
                  <a:lnTo>
                    <a:pt x="7715250" y="0"/>
                  </a:lnTo>
                  <a:lnTo>
                    <a:pt x="7715250" y="3305175"/>
                  </a:lnTo>
                  <a:lnTo>
                    <a:pt x="0" y="3305175"/>
                  </a:lnTo>
                  <a:lnTo>
                    <a:pt x="0" y="0"/>
                  </a:lnTo>
                  <a:close/>
                </a:path>
              </a:pathLst>
            </a:custGeom>
            <a:blipFill>
              <a:blip r:embed="rId5"/>
              <a:stretch>
                <a:fillRect l="0" t="0" r="0" b="-864"/>
              </a:stretch>
            </a:blipFill>
          </p:spPr>
        </p:sp>
      </p:grpSp>
      <p:sp>
        <p:nvSpPr>
          <p:cNvPr name="TextBox 8" id="8"/>
          <p:cNvSpPr txBox="true"/>
          <p:nvPr/>
        </p:nvSpPr>
        <p:spPr>
          <a:xfrm rot="0">
            <a:off x="5124713" y="7498738"/>
            <a:ext cx="8038575" cy="633531"/>
          </a:xfrm>
          <a:prstGeom prst="rect">
            <a:avLst/>
          </a:prstGeom>
        </p:spPr>
        <p:txBody>
          <a:bodyPr anchor="t" rtlCol="false" tIns="0" lIns="0" bIns="0" rIns="0">
            <a:spAutoFit/>
          </a:bodyPr>
          <a:lstStyle/>
          <a:p>
            <a:pPr algn="ctr">
              <a:lnSpc>
                <a:spcPts val="5519"/>
              </a:lnSpc>
            </a:pPr>
            <a:r>
              <a:rPr lang="en-US" sz="3066">
                <a:solidFill>
                  <a:srgbClr val="4F46E5"/>
                </a:solidFill>
                <a:latin typeface="Montserrat"/>
                <a:ea typeface="Montserrat"/>
                <a:cs typeface="Montserrat"/>
                <a:sym typeface="Montserrat"/>
              </a:rPr>
              <a:t>PROPOSAL DEFENSE ON</a:t>
            </a:r>
          </a:p>
        </p:txBody>
      </p:sp>
      <p:sp>
        <p:nvSpPr>
          <p:cNvPr name="TextBox 9" id="9"/>
          <p:cNvSpPr txBox="true"/>
          <p:nvPr/>
        </p:nvSpPr>
        <p:spPr>
          <a:xfrm rot="0">
            <a:off x="1643062" y="8225731"/>
            <a:ext cx="15001875" cy="1685012"/>
          </a:xfrm>
          <a:prstGeom prst="rect">
            <a:avLst/>
          </a:prstGeom>
        </p:spPr>
        <p:txBody>
          <a:bodyPr anchor="t" rtlCol="false" tIns="0" lIns="0" bIns="0" rIns="0">
            <a:spAutoFit/>
          </a:bodyPr>
          <a:lstStyle/>
          <a:p>
            <a:pPr algn="ctr">
              <a:lnSpc>
                <a:spcPts val="6802"/>
              </a:lnSpc>
            </a:pPr>
            <a:r>
              <a:rPr lang="en-US" sz="4725">
                <a:solidFill>
                  <a:srgbClr val="0F172A"/>
                </a:solidFill>
                <a:latin typeface="Montserrat"/>
                <a:ea typeface="Montserrat"/>
                <a:cs typeface="Montserrat"/>
                <a:sym typeface="Montserrat"/>
              </a:rPr>
              <a:t>NEAT Implementation for Super Mario Bros. for Speed-running</a:t>
            </a:r>
          </a:p>
        </p:txBody>
      </p:sp>
      <p:sp>
        <p:nvSpPr>
          <p:cNvPr name="TextBox 10" id="10"/>
          <p:cNvSpPr txBox="true"/>
          <p:nvPr/>
        </p:nvSpPr>
        <p:spPr>
          <a:xfrm rot="0">
            <a:off x="3429000" y="10024813"/>
            <a:ext cx="11430000" cy="874296"/>
          </a:xfrm>
          <a:prstGeom prst="rect">
            <a:avLst/>
          </a:prstGeom>
        </p:spPr>
        <p:txBody>
          <a:bodyPr anchor="t" rtlCol="false" tIns="0" lIns="0" bIns="0" rIns="0">
            <a:spAutoFit/>
          </a:bodyPr>
          <a:lstStyle/>
          <a:p>
            <a:pPr algn="ctr">
              <a:lnSpc>
                <a:spcPts val="3645"/>
              </a:lnSpc>
            </a:pPr>
            <a:r>
              <a:rPr lang="en-US" sz="2025">
                <a:solidFill>
                  <a:srgbClr val="64748B"/>
                </a:solidFill>
                <a:latin typeface="Montserrat"/>
                <a:ea typeface="Montserrat"/>
                <a:cs typeface="Montserrat"/>
                <a:sym typeface="Montserrat"/>
              </a:rPr>
              <a:t>Autonomous neuroevolution controller implementation utilizing RAM-based spatial downsampling and topological mutations.</a:t>
            </a:r>
          </a:p>
        </p:txBody>
      </p:sp>
      <p:sp>
        <p:nvSpPr>
          <p:cNvPr name="TextBox 11" id="11"/>
          <p:cNvSpPr txBox="true"/>
          <p:nvPr/>
        </p:nvSpPr>
        <p:spPr>
          <a:xfrm rot="0">
            <a:off x="3371850" y="12384632"/>
            <a:ext cx="5186362" cy="311944"/>
          </a:xfrm>
          <a:prstGeom prst="rect">
            <a:avLst/>
          </a:prstGeom>
        </p:spPr>
        <p:txBody>
          <a:bodyPr anchor="t" rtlCol="false" tIns="0" lIns="0" bIns="0" rIns="0">
            <a:spAutoFit/>
          </a:bodyPr>
          <a:lstStyle/>
          <a:p>
            <a:pPr algn="l">
              <a:lnSpc>
                <a:spcPts val="2226"/>
              </a:lnSpc>
            </a:pPr>
            <a:r>
              <a:rPr lang="en-US" sz="1237">
                <a:solidFill>
                  <a:srgbClr val="4F46E5"/>
                </a:solidFill>
                <a:latin typeface="Montserrat"/>
                <a:ea typeface="Montserrat"/>
                <a:cs typeface="Montserrat"/>
                <a:sym typeface="Montserrat"/>
              </a:rPr>
              <a:t>PRESENTED BY:</a:t>
            </a:r>
          </a:p>
        </p:txBody>
      </p:sp>
      <p:sp>
        <p:nvSpPr>
          <p:cNvPr name="TextBox 12" id="12"/>
          <p:cNvSpPr txBox="true"/>
          <p:nvPr/>
        </p:nvSpPr>
        <p:spPr>
          <a:xfrm rot="0">
            <a:off x="3371850" y="12744201"/>
            <a:ext cx="5186362" cy="416719"/>
          </a:xfrm>
          <a:prstGeom prst="rect">
            <a:avLst/>
          </a:prstGeom>
        </p:spPr>
        <p:txBody>
          <a:bodyPr anchor="t" rtlCol="false" tIns="0" lIns="0" bIns="0" rIns="0">
            <a:spAutoFit/>
          </a:bodyPr>
          <a:lstStyle/>
          <a:p>
            <a:pPr algn="l">
              <a:lnSpc>
                <a:spcPts val="3036"/>
              </a:lnSpc>
            </a:pPr>
            <a:r>
              <a:rPr lang="en-US" sz="1687">
                <a:solidFill>
                  <a:srgbClr val="1E293B"/>
                </a:solidFill>
                <a:latin typeface="Montserrat"/>
                <a:ea typeface="Montserrat"/>
                <a:cs typeface="Montserrat"/>
                <a:sym typeface="Montserrat"/>
              </a:rPr>
              <a:t>Niraj Nath (KCE080BCT016)</a:t>
            </a:r>
          </a:p>
        </p:txBody>
      </p:sp>
      <p:sp>
        <p:nvSpPr>
          <p:cNvPr name="TextBox 13" id="13"/>
          <p:cNvSpPr txBox="true"/>
          <p:nvPr/>
        </p:nvSpPr>
        <p:spPr>
          <a:xfrm rot="0">
            <a:off x="3371850" y="13137107"/>
            <a:ext cx="5186362" cy="416719"/>
          </a:xfrm>
          <a:prstGeom prst="rect">
            <a:avLst/>
          </a:prstGeom>
        </p:spPr>
        <p:txBody>
          <a:bodyPr anchor="t" rtlCol="false" tIns="0" lIns="0" bIns="0" rIns="0">
            <a:spAutoFit/>
          </a:bodyPr>
          <a:lstStyle/>
          <a:p>
            <a:pPr algn="l">
              <a:lnSpc>
                <a:spcPts val="3036"/>
              </a:lnSpc>
            </a:pPr>
            <a:r>
              <a:rPr lang="en-US" sz="1687">
                <a:solidFill>
                  <a:srgbClr val="1E293B"/>
                </a:solidFill>
                <a:latin typeface="Montserrat"/>
                <a:ea typeface="Montserrat"/>
                <a:cs typeface="Montserrat"/>
                <a:sym typeface="Montserrat"/>
              </a:rPr>
              <a:t>Rohan Singh (KCE080BCT033)</a:t>
            </a:r>
          </a:p>
        </p:txBody>
      </p:sp>
      <p:sp>
        <p:nvSpPr>
          <p:cNvPr name="TextBox 14" id="14"/>
          <p:cNvSpPr txBox="true"/>
          <p:nvPr/>
        </p:nvSpPr>
        <p:spPr>
          <a:xfrm rot="0">
            <a:off x="3371850" y="13530013"/>
            <a:ext cx="5186362" cy="416719"/>
          </a:xfrm>
          <a:prstGeom prst="rect">
            <a:avLst/>
          </a:prstGeom>
        </p:spPr>
        <p:txBody>
          <a:bodyPr anchor="t" rtlCol="false" tIns="0" lIns="0" bIns="0" rIns="0">
            <a:spAutoFit/>
          </a:bodyPr>
          <a:lstStyle/>
          <a:p>
            <a:pPr algn="l">
              <a:lnSpc>
                <a:spcPts val="3036"/>
              </a:lnSpc>
            </a:pPr>
            <a:r>
              <a:rPr lang="en-US" sz="1687">
                <a:solidFill>
                  <a:srgbClr val="1E293B"/>
                </a:solidFill>
                <a:latin typeface="Montserrat"/>
                <a:ea typeface="Montserrat"/>
                <a:cs typeface="Montserrat"/>
                <a:sym typeface="Montserrat"/>
              </a:rPr>
              <a:t>Shailaj Dahal (KCE080BCT036)</a:t>
            </a:r>
          </a:p>
        </p:txBody>
      </p:sp>
      <p:sp>
        <p:nvSpPr>
          <p:cNvPr name="TextBox 15" id="15"/>
          <p:cNvSpPr txBox="true"/>
          <p:nvPr/>
        </p:nvSpPr>
        <p:spPr>
          <a:xfrm rot="0">
            <a:off x="3371850" y="13922920"/>
            <a:ext cx="5186362" cy="416719"/>
          </a:xfrm>
          <a:prstGeom prst="rect">
            <a:avLst/>
          </a:prstGeom>
        </p:spPr>
        <p:txBody>
          <a:bodyPr anchor="t" rtlCol="false" tIns="0" lIns="0" bIns="0" rIns="0">
            <a:spAutoFit/>
          </a:bodyPr>
          <a:lstStyle/>
          <a:p>
            <a:pPr algn="l">
              <a:lnSpc>
                <a:spcPts val="3036"/>
              </a:lnSpc>
            </a:pPr>
            <a:r>
              <a:rPr lang="en-US" sz="1687">
                <a:solidFill>
                  <a:srgbClr val="1E293B"/>
                </a:solidFill>
                <a:latin typeface="Montserrat"/>
                <a:ea typeface="Montserrat"/>
                <a:cs typeface="Montserrat"/>
                <a:sym typeface="Montserrat"/>
              </a:rPr>
              <a:t>Supriya Poudel (KCE080BCT042)</a:t>
            </a:r>
          </a:p>
        </p:txBody>
      </p:sp>
      <p:sp>
        <p:nvSpPr>
          <p:cNvPr name="TextBox 16" id="16"/>
          <p:cNvSpPr txBox="true"/>
          <p:nvPr/>
        </p:nvSpPr>
        <p:spPr>
          <a:xfrm rot="0">
            <a:off x="9729788" y="12384632"/>
            <a:ext cx="5186362" cy="311944"/>
          </a:xfrm>
          <a:prstGeom prst="rect">
            <a:avLst/>
          </a:prstGeom>
        </p:spPr>
        <p:txBody>
          <a:bodyPr anchor="t" rtlCol="false" tIns="0" lIns="0" bIns="0" rIns="0">
            <a:spAutoFit/>
          </a:bodyPr>
          <a:lstStyle/>
          <a:p>
            <a:pPr algn="l">
              <a:lnSpc>
                <a:spcPts val="2226"/>
              </a:lnSpc>
            </a:pPr>
            <a:r>
              <a:rPr lang="en-US" sz="1237">
                <a:solidFill>
                  <a:srgbClr val="4F46E5"/>
                </a:solidFill>
                <a:latin typeface="Montserrat"/>
                <a:ea typeface="Montserrat"/>
                <a:cs typeface="Montserrat"/>
                <a:sym typeface="Montserrat"/>
              </a:rPr>
              <a:t>SUPERVISED BY:</a:t>
            </a:r>
          </a:p>
        </p:txBody>
      </p:sp>
      <p:sp>
        <p:nvSpPr>
          <p:cNvPr name="TextBox 17" id="17"/>
          <p:cNvSpPr txBox="true"/>
          <p:nvPr/>
        </p:nvSpPr>
        <p:spPr>
          <a:xfrm rot="0">
            <a:off x="9729788" y="12744201"/>
            <a:ext cx="5186362" cy="347778"/>
          </a:xfrm>
          <a:prstGeom prst="rect">
            <a:avLst/>
          </a:prstGeom>
        </p:spPr>
        <p:txBody>
          <a:bodyPr anchor="t" rtlCol="false" tIns="0" lIns="0" bIns="0" rIns="0">
            <a:spAutoFit/>
          </a:bodyPr>
          <a:lstStyle/>
          <a:p>
            <a:pPr algn="l">
              <a:lnSpc>
                <a:spcPts val="3036"/>
              </a:lnSpc>
            </a:pPr>
            <a:r>
              <a:rPr lang="en-US" sz="1687">
                <a:solidFill>
                  <a:srgbClr val="1E293B"/>
                </a:solidFill>
                <a:latin typeface="Montserrat"/>
                <a:ea typeface="Montserrat"/>
                <a:cs typeface="Montserrat"/>
                <a:sym typeface="Montserrat"/>
              </a:rPr>
              <a:t>Dr. Ramesh Marikhu</a:t>
            </a:r>
          </a:p>
        </p:txBody>
      </p:sp>
      <p:sp>
        <p:nvSpPr>
          <p:cNvPr name="TextBox 18" id="18"/>
          <p:cNvSpPr txBox="true"/>
          <p:nvPr/>
        </p:nvSpPr>
        <p:spPr>
          <a:xfrm rot="0">
            <a:off x="9729788" y="13137107"/>
            <a:ext cx="5186362" cy="347778"/>
          </a:xfrm>
          <a:prstGeom prst="rect">
            <a:avLst/>
          </a:prstGeom>
        </p:spPr>
        <p:txBody>
          <a:bodyPr anchor="t" rtlCol="false" tIns="0" lIns="0" bIns="0" rIns="0">
            <a:spAutoFit/>
          </a:bodyPr>
          <a:lstStyle/>
          <a:p>
            <a:pPr algn="l">
              <a:lnSpc>
                <a:spcPts val="3036"/>
              </a:lnSpc>
            </a:pPr>
            <a:r>
              <a:rPr lang="en-US" sz="1687">
                <a:solidFill>
                  <a:srgbClr val="64748B"/>
                </a:solidFill>
                <a:latin typeface="Montserrat"/>
                <a:ea typeface="Montserrat"/>
                <a:cs typeface="Montserrat"/>
                <a:sym typeface="Montserrat"/>
              </a:rPr>
              <a:t>Almonds AI</a:t>
            </a:r>
          </a:p>
        </p:txBody>
      </p:sp>
      <p:grpSp>
        <p:nvGrpSpPr>
          <p:cNvPr name="Group 19" id="19"/>
          <p:cNvGrpSpPr/>
          <p:nvPr/>
        </p:nvGrpSpPr>
        <p:grpSpPr>
          <a:xfrm rot="0">
            <a:off x="16370803" y="5763407"/>
            <a:ext cx="1281629" cy="1273842"/>
            <a:chOff x="0" y="0"/>
            <a:chExt cx="3028798" cy="3010395"/>
          </a:xfrm>
        </p:grpSpPr>
        <p:sp>
          <p:nvSpPr>
            <p:cNvPr name="Freeform 20" id="20"/>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6"/>
              <a:stretch>
                <a:fillRect l="0" t="-305" r="0" b="-305"/>
              </a:stretch>
            </a:blipFill>
          </p:spPr>
        </p:sp>
      </p:grpSp>
      <p:sp>
        <p:nvSpPr>
          <p:cNvPr name="TextBox 21" id="21"/>
          <p:cNvSpPr txBox="true"/>
          <p:nvPr/>
        </p:nvSpPr>
        <p:spPr>
          <a:xfrm rot="0">
            <a:off x="7731069" y="11199923"/>
            <a:ext cx="2825862" cy="471156"/>
          </a:xfrm>
          <a:prstGeom prst="rect">
            <a:avLst/>
          </a:prstGeom>
        </p:spPr>
        <p:txBody>
          <a:bodyPr anchor="t" rtlCol="false" tIns="0" lIns="0" bIns="0" rIns="0">
            <a:spAutoFit/>
          </a:bodyPr>
          <a:lstStyle/>
          <a:p>
            <a:pPr algn="ctr">
              <a:lnSpc>
                <a:spcPts val="4132"/>
              </a:lnSpc>
              <a:spcBef>
                <a:spcPct val="0"/>
              </a:spcBef>
            </a:pPr>
            <a:r>
              <a:rPr lang="en-US" sz="2296">
                <a:solidFill>
                  <a:srgbClr val="000000"/>
                </a:solidFill>
                <a:latin typeface="Montserrat"/>
                <a:ea typeface="Montserrat"/>
                <a:cs typeface="Montserrat"/>
                <a:sym typeface="Montserrat"/>
              </a:rPr>
              <a:t>Date: 5</a:t>
            </a:r>
            <a:r>
              <a:rPr lang="en-US" sz="2296">
                <a:solidFill>
                  <a:srgbClr val="000000"/>
                </a:solidFill>
                <a:latin typeface="Montserrat"/>
                <a:ea typeface="Montserrat"/>
                <a:cs typeface="Montserrat"/>
                <a:sym typeface="Montserrat"/>
              </a:rPr>
              <a:t>th</a:t>
            </a:r>
            <a:r>
              <a:rPr lang="en-US" sz="2296">
                <a:solidFill>
                  <a:srgbClr val="000000"/>
                </a:solidFill>
                <a:latin typeface="Montserrat"/>
                <a:ea typeface="Montserrat"/>
                <a:cs typeface="Montserrat"/>
                <a:sym typeface="Montserrat"/>
              </a:rPr>
              <a:t> June, 2026</a:t>
            </a:r>
          </a:p>
        </p:txBody>
      </p:sp>
      <p:sp>
        <p:nvSpPr>
          <p:cNvPr name="TextBox 22" id="22"/>
          <p:cNvSpPr txBox="true"/>
          <p:nvPr/>
        </p:nvSpPr>
        <p:spPr>
          <a:xfrm rot="0">
            <a:off x="5483095" y="6030856"/>
            <a:ext cx="7321810" cy="1115457"/>
          </a:xfrm>
          <a:prstGeom prst="rect">
            <a:avLst/>
          </a:prstGeom>
        </p:spPr>
        <p:txBody>
          <a:bodyPr anchor="t" rtlCol="false" tIns="0" lIns="0" bIns="0" rIns="0">
            <a:spAutoFit/>
          </a:bodyPr>
          <a:lstStyle/>
          <a:p>
            <a:pPr algn="ctr">
              <a:lnSpc>
                <a:spcPts val="2967"/>
              </a:lnSpc>
            </a:pPr>
            <a:r>
              <a:rPr lang="en-US" b="true" sz="2354">
                <a:solidFill>
                  <a:srgbClr val="4F46E5"/>
                </a:solidFill>
                <a:latin typeface="Montserrat Bold"/>
                <a:ea typeface="Montserrat Bold"/>
                <a:cs typeface="Montserrat Bold"/>
                <a:sym typeface="Montserrat Bold"/>
              </a:rPr>
              <a:t>Tribhuvan University</a:t>
            </a:r>
          </a:p>
          <a:p>
            <a:pPr algn="ctr">
              <a:lnSpc>
                <a:spcPts val="2967"/>
              </a:lnSpc>
            </a:pPr>
            <a:r>
              <a:rPr lang="en-US" b="true" sz="2354">
                <a:solidFill>
                  <a:srgbClr val="4F46E5"/>
                </a:solidFill>
                <a:latin typeface="Montserrat Bold"/>
                <a:ea typeface="Montserrat Bold"/>
                <a:cs typeface="Montserrat Bold"/>
                <a:sym typeface="Montserrat Bold"/>
              </a:rPr>
              <a:t>Institute of Engineering</a:t>
            </a:r>
          </a:p>
          <a:p>
            <a:pPr algn="ctr">
              <a:lnSpc>
                <a:spcPts val="2967"/>
              </a:lnSpc>
            </a:pPr>
            <a:r>
              <a:rPr lang="en-US" b="true" sz="2354">
                <a:solidFill>
                  <a:srgbClr val="4F46E5"/>
                </a:solidFill>
                <a:latin typeface="Montserrat Bold"/>
                <a:ea typeface="Montserrat Bold"/>
                <a:cs typeface="Montserrat Bold"/>
                <a:sym typeface="Montserrat Bold"/>
              </a:rPr>
              <a:t>Khwopa College of Engineering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390936" y="7865605"/>
            <a:ext cx="7986712" cy="5387824"/>
            <a:chOff x="0" y="0"/>
            <a:chExt cx="10648950" cy="7183765"/>
          </a:xfrm>
        </p:grpSpPr>
        <p:sp>
          <p:nvSpPr>
            <p:cNvPr name="Freeform 3" id="3" descr="image.png"/>
            <p:cNvSpPr/>
            <p:nvPr/>
          </p:nvSpPr>
          <p:spPr>
            <a:xfrm flipH="false" flipV="false" rot="0">
              <a:off x="0" y="0"/>
              <a:ext cx="10648950" cy="7183765"/>
            </a:xfrm>
            <a:custGeom>
              <a:avLst/>
              <a:gdLst/>
              <a:ahLst/>
              <a:cxnLst/>
              <a:rect r="r" b="b" t="t" l="l"/>
              <a:pathLst>
                <a:path h="7183765" w="10648950">
                  <a:moveTo>
                    <a:pt x="0" y="0"/>
                  </a:moveTo>
                  <a:lnTo>
                    <a:pt x="10648950" y="0"/>
                  </a:lnTo>
                  <a:lnTo>
                    <a:pt x="10648950" y="7183765"/>
                  </a:lnTo>
                  <a:lnTo>
                    <a:pt x="0" y="7183765"/>
                  </a:lnTo>
                  <a:lnTo>
                    <a:pt x="0" y="0"/>
                  </a:lnTo>
                  <a:close/>
                </a:path>
              </a:pathLst>
            </a:custGeom>
            <a:blipFill>
              <a:blip r:embed="rId3"/>
              <a:stretch>
                <a:fillRect l="-8921" t="0" r="-9132" b="0"/>
              </a:stretch>
            </a:blipFill>
          </p:spPr>
        </p:sp>
      </p:grpSp>
      <p:sp>
        <p:nvSpPr>
          <p:cNvPr name="TextBox 4" id="4"/>
          <p:cNvSpPr txBox="true"/>
          <p:nvPr/>
        </p:nvSpPr>
        <p:spPr>
          <a:xfrm rot="0">
            <a:off x="1085850" y="6229350"/>
            <a:ext cx="17147143" cy="557212"/>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1. Introduction</a:t>
            </a:r>
          </a:p>
        </p:txBody>
      </p:sp>
      <p:grpSp>
        <p:nvGrpSpPr>
          <p:cNvPr name="Group 5" id="5"/>
          <p:cNvGrpSpPr/>
          <p:nvPr/>
        </p:nvGrpSpPr>
        <p:grpSpPr>
          <a:xfrm rot="0">
            <a:off x="871538" y="6229350"/>
            <a:ext cx="71438" cy="557212"/>
            <a:chOff x="0" y="0"/>
            <a:chExt cx="95250" cy="742950"/>
          </a:xfrm>
        </p:grpSpPr>
        <p:sp>
          <p:nvSpPr>
            <p:cNvPr name="Freeform 6" id="6"/>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7" id="7"/>
          <p:cNvGrpSpPr/>
          <p:nvPr/>
        </p:nvGrpSpPr>
        <p:grpSpPr>
          <a:xfrm rot="0">
            <a:off x="9390936" y="7902046"/>
            <a:ext cx="8025527" cy="5314942"/>
            <a:chOff x="0" y="0"/>
            <a:chExt cx="9147389" cy="6057900"/>
          </a:xfrm>
        </p:grpSpPr>
        <p:sp>
          <p:nvSpPr>
            <p:cNvPr name="Freeform 8" id="8" descr="image.png"/>
            <p:cNvSpPr/>
            <p:nvPr/>
          </p:nvSpPr>
          <p:spPr>
            <a:xfrm flipH="false" flipV="false" rot="0">
              <a:off x="0" y="0"/>
              <a:ext cx="9147389" cy="6057900"/>
            </a:xfrm>
            <a:custGeom>
              <a:avLst/>
              <a:gdLst/>
              <a:ahLst/>
              <a:cxnLst/>
              <a:rect r="r" b="b" t="t" l="l"/>
              <a:pathLst>
                <a:path h="6057900" w="9147389">
                  <a:moveTo>
                    <a:pt x="0" y="0"/>
                  </a:moveTo>
                  <a:lnTo>
                    <a:pt x="9147389" y="0"/>
                  </a:lnTo>
                  <a:lnTo>
                    <a:pt x="9147389" y="6057900"/>
                  </a:lnTo>
                  <a:lnTo>
                    <a:pt x="0" y="6057900"/>
                  </a:lnTo>
                  <a:lnTo>
                    <a:pt x="0" y="0"/>
                  </a:lnTo>
                  <a:close/>
                </a:path>
              </a:pathLst>
            </a:custGeom>
            <a:blipFill>
              <a:blip r:embed="rId4"/>
              <a:stretch>
                <a:fillRect l="-7999" t="0" r="-7999" b="-89"/>
              </a:stretch>
            </a:blipFill>
          </p:spPr>
        </p:sp>
      </p:grpSp>
      <p:grpSp>
        <p:nvGrpSpPr>
          <p:cNvPr name="Group 9" id="9"/>
          <p:cNvGrpSpPr/>
          <p:nvPr/>
        </p:nvGrpSpPr>
        <p:grpSpPr>
          <a:xfrm rot="0">
            <a:off x="871538" y="7045041"/>
            <a:ext cx="16544925" cy="14288"/>
            <a:chOff x="0" y="0"/>
            <a:chExt cx="22059900" cy="19050"/>
          </a:xfrm>
        </p:grpSpPr>
        <p:sp>
          <p:nvSpPr>
            <p:cNvPr name="Freeform 10" id="10"/>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grpSp>
        <p:nvGrpSpPr>
          <p:cNvPr name="Group 11" id="11"/>
          <p:cNvGrpSpPr/>
          <p:nvPr/>
        </p:nvGrpSpPr>
        <p:grpSpPr>
          <a:xfrm rot="0">
            <a:off x="16370803" y="5696448"/>
            <a:ext cx="1281629" cy="1273842"/>
            <a:chOff x="0" y="0"/>
            <a:chExt cx="3028798" cy="3010395"/>
          </a:xfrm>
        </p:grpSpPr>
        <p:sp>
          <p:nvSpPr>
            <p:cNvPr name="Freeform 12" id="12"/>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5"/>
              <a:stretch>
                <a:fillRect l="0" t="-305" r="0" b="-305"/>
              </a:stretch>
            </a:blipFill>
          </p:spPr>
        </p:sp>
      </p:grpSp>
      <p:sp>
        <p:nvSpPr>
          <p:cNvPr name="Freeform 13" id="13"/>
          <p:cNvSpPr/>
          <p:nvPr/>
        </p:nvSpPr>
        <p:spPr>
          <a:xfrm flipH="false" flipV="false" rot="0">
            <a:off x="971550" y="8341198"/>
            <a:ext cx="199237" cy="205978"/>
          </a:xfrm>
          <a:custGeom>
            <a:avLst/>
            <a:gdLst/>
            <a:ahLst/>
            <a:cxnLst/>
            <a:rect r="r" b="b" t="t" l="l"/>
            <a:pathLst>
              <a:path h="205978" w="199237">
                <a:moveTo>
                  <a:pt x="0" y="0"/>
                </a:moveTo>
                <a:lnTo>
                  <a:pt x="199237" y="0"/>
                </a:lnTo>
                <a:lnTo>
                  <a:pt x="199237" y="205977"/>
                </a:lnTo>
                <a:lnTo>
                  <a:pt x="0" y="205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871538" y="7538470"/>
            <a:ext cx="7370564" cy="409575"/>
          </a:xfrm>
          <a:prstGeom prst="rect">
            <a:avLst/>
          </a:prstGeom>
        </p:spPr>
        <p:txBody>
          <a:bodyPr anchor="t" rtlCol="false" tIns="0" lIns="0" bIns="0" rIns="0">
            <a:spAutoFit/>
          </a:bodyPr>
          <a:lstStyle/>
          <a:p>
            <a:pPr algn="l">
              <a:lnSpc>
                <a:spcPts val="3209"/>
              </a:lnSpc>
            </a:pPr>
            <a:r>
              <a:rPr lang="en-US" sz="2674">
                <a:solidFill>
                  <a:srgbClr val="4F46E5"/>
                </a:solidFill>
                <a:latin typeface="Montserrat"/>
                <a:ea typeface="Montserrat"/>
                <a:cs typeface="Montserrat"/>
                <a:sym typeface="Montserrat"/>
              </a:rPr>
              <a:t>NEAT Implementation on Super Mario Bros</a:t>
            </a:r>
          </a:p>
        </p:txBody>
      </p:sp>
      <p:sp>
        <p:nvSpPr>
          <p:cNvPr name="TextBox 15" id="15"/>
          <p:cNvSpPr txBox="true"/>
          <p:nvPr/>
        </p:nvSpPr>
        <p:spPr>
          <a:xfrm rot="0">
            <a:off x="1300163" y="8142363"/>
            <a:ext cx="7558088" cy="1331595"/>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Video games like mario provide </a:t>
            </a:r>
            <a:r>
              <a:rPr lang="en-US" sz="2025">
                <a:solidFill>
                  <a:srgbClr val="4F46E5"/>
                </a:solidFill>
                <a:latin typeface="Montserrat"/>
                <a:ea typeface="Montserrat"/>
                <a:cs typeface="Montserrat"/>
                <a:sym typeface="Montserrat"/>
              </a:rPr>
              <a:t>highly complex and controlled real-time spatial</a:t>
            </a:r>
            <a:r>
              <a:rPr lang="en-US" sz="2025">
                <a:solidFill>
                  <a:srgbClr val="475569"/>
                </a:solidFill>
                <a:latin typeface="Montserrat"/>
                <a:ea typeface="Montserrat"/>
                <a:cs typeface="Montserrat"/>
                <a:sym typeface="Montserrat"/>
              </a:rPr>
              <a:t> benchmarks for evaluating</a:t>
            </a:r>
            <a:r>
              <a:rPr lang="en-US" sz="2025">
                <a:solidFill>
                  <a:srgbClr val="4F46E5"/>
                </a:solidFill>
                <a:latin typeface="Montserrat"/>
                <a:ea typeface="Montserrat"/>
                <a:cs typeface="Montserrat"/>
                <a:sym typeface="Montserrat"/>
              </a:rPr>
              <a:t> autonomous learning systems.</a:t>
            </a:r>
          </a:p>
        </p:txBody>
      </p:sp>
      <p:sp>
        <p:nvSpPr>
          <p:cNvPr name="TextBox 16" id="16"/>
          <p:cNvSpPr txBox="true"/>
          <p:nvPr/>
        </p:nvSpPr>
        <p:spPr>
          <a:xfrm rot="0">
            <a:off x="1300163" y="9471100"/>
            <a:ext cx="7558088" cy="1331595"/>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Traditional controllers relied heavily on static, rule-based heuristics or rigid finite state machines which fail to handle dynamic layout variations.</a:t>
            </a:r>
          </a:p>
        </p:txBody>
      </p:sp>
      <p:sp>
        <p:nvSpPr>
          <p:cNvPr name="TextBox 17" id="17"/>
          <p:cNvSpPr txBox="true"/>
          <p:nvPr/>
        </p:nvSpPr>
        <p:spPr>
          <a:xfrm rot="0">
            <a:off x="1300163" y="10799838"/>
            <a:ext cx="7558088" cy="1331446"/>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Neuroevolution addresses this limitation by adapting </a:t>
            </a:r>
            <a:r>
              <a:rPr lang="en-US" sz="2025">
                <a:solidFill>
                  <a:srgbClr val="4F46E5"/>
                </a:solidFill>
                <a:latin typeface="Montserrat"/>
                <a:ea typeface="Montserrat"/>
                <a:cs typeface="Montserrat"/>
                <a:sym typeface="Montserrat"/>
              </a:rPr>
              <a:t>both parameters and topology </a:t>
            </a:r>
            <a:r>
              <a:rPr lang="en-US" sz="2025">
                <a:solidFill>
                  <a:srgbClr val="475569"/>
                </a:solidFill>
                <a:latin typeface="Montserrat"/>
                <a:ea typeface="Montserrat"/>
                <a:cs typeface="Montserrat"/>
                <a:sym typeface="Montserrat"/>
              </a:rPr>
              <a:t>dynamically through generational selection, mutation, and crossover.</a:t>
            </a:r>
          </a:p>
        </p:txBody>
      </p:sp>
      <p:sp>
        <p:nvSpPr>
          <p:cNvPr name="TextBox 18" id="18"/>
          <p:cNvSpPr txBox="true"/>
          <p:nvPr/>
        </p:nvSpPr>
        <p:spPr>
          <a:xfrm rot="0">
            <a:off x="1300163" y="12128575"/>
            <a:ext cx="7558088" cy="1271588"/>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NEAT starts with minimal hidden layers and builds topology structurally to isolate only key sensory inputs as training demands it.</a:t>
            </a:r>
          </a:p>
        </p:txBody>
      </p:sp>
      <p:sp>
        <p:nvSpPr>
          <p:cNvPr name="Freeform 19" id="19"/>
          <p:cNvSpPr/>
          <p:nvPr/>
        </p:nvSpPr>
        <p:spPr>
          <a:xfrm flipH="false" flipV="false" rot="0">
            <a:off x="942975" y="9643669"/>
            <a:ext cx="227812" cy="235520"/>
          </a:xfrm>
          <a:custGeom>
            <a:avLst/>
            <a:gdLst/>
            <a:ahLst/>
            <a:cxnLst/>
            <a:rect r="r" b="b" t="t" l="l"/>
            <a:pathLst>
              <a:path h="235520" w="227812">
                <a:moveTo>
                  <a:pt x="0" y="0"/>
                </a:moveTo>
                <a:lnTo>
                  <a:pt x="227812" y="0"/>
                </a:lnTo>
                <a:lnTo>
                  <a:pt x="227812" y="235520"/>
                </a:lnTo>
                <a:lnTo>
                  <a:pt x="0" y="235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945062" y="10974564"/>
            <a:ext cx="225725" cy="233362"/>
          </a:xfrm>
          <a:custGeom>
            <a:avLst/>
            <a:gdLst/>
            <a:ahLst/>
            <a:cxnLst/>
            <a:rect r="r" b="b" t="t" l="l"/>
            <a:pathLst>
              <a:path h="233362" w="225725">
                <a:moveTo>
                  <a:pt x="0" y="0"/>
                </a:moveTo>
                <a:lnTo>
                  <a:pt x="225725" y="0"/>
                </a:lnTo>
                <a:lnTo>
                  <a:pt x="225725" y="233362"/>
                </a:lnTo>
                <a:lnTo>
                  <a:pt x="0" y="2333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942975" y="12261925"/>
            <a:ext cx="227812" cy="235520"/>
          </a:xfrm>
          <a:custGeom>
            <a:avLst/>
            <a:gdLst/>
            <a:ahLst/>
            <a:cxnLst/>
            <a:rect r="r" b="b" t="t" l="l"/>
            <a:pathLst>
              <a:path h="235520" w="227812">
                <a:moveTo>
                  <a:pt x="0" y="0"/>
                </a:moveTo>
                <a:lnTo>
                  <a:pt x="227812" y="0"/>
                </a:lnTo>
                <a:lnTo>
                  <a:pt x="227812" y="235520"/>
                </a:lnTo>
                <a:lnTo>
                  <a:pt x="0" y="235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2" id="22"/>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
        <p:nvSpPr>
          <p:cNvPr name="TextBox 23" id="23"/>
          <p:cNvSpPr txBox="true"/>
          <p:nvPr/>
        </p:nvSpPr>
        <p:spPr>
          <a:xfrm rot="0">
            <a:off x="8343834" y="7557520"/>
            <a:ext cx="247948" cy="190500"/>
          </a:xfrm>
          <a:prstGeom prst="rect">
            <a:avLst/>
          </a:prstGeom>
        </p:spPr>
        <p:txBody>
          <a:bodyPr anchor="t" rtlCol="false" tIns="0" lIns="0" bIns="0" rIns="0">
            <a:spAutoFit/>
          </a:bodyPr>
          <a:lstStyle/>
          <a:p>
            <a:pPr algn="l">
              <a:lnSpc>
                <a:spcPts val="1532"/>
              </a:lnSpc>
            </a:pPr>
            <a:r>
              <a:rPr lang="en-US" sz="1277">
                <a:solidFill>
                  <a:srgbClr val="4F46E5"/>
                </a:solidFill>
                <a:latin typeface="Montserrat"/>
                <a:ea typeface="Montserrat"/>
                <a:cs typeface="Montserrat"/>
                <a:sym typeface="Montserrat"/>
              </a:rPr>
              <a:t>TM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942975" y="9120686"/>
            <a:ext cx="5229225" cy="4329112"/>
            <a:chOff x="0" y="0"/>
            <a:chExt cx="6972300" cy="5772150"/>
          </a:xfrm>
        </p:grpSpPr>
        <p:sp>
          <p:nvSpPr>
            <p:cNvPr name="Freeform 5" id="5" descr="image.png"/>
            <p:cNvSpPr/>
            <p:nvPr/>
          </p:nvSpPr>
          <p:spPr>
            <a:xfrm flipH="false" flipV="false" rot="0">
              <a:off x="0" y="0"/>
              <a:ext cx="6972300" cy="5772150"/>
            </a:xfrm>
            <a:custGeom>
              <a:avLst/>
              <a:gdLst/>
              <a:ahLst/>
              <a:cxnLst/>
              <a:rect r="r" b="b" t="t" l="l"/>
              <a:pathLst>
                <a:path h="5772150" w="6972300">
                  <a:moveTo>
                    <a:pt x="0" y="0"/>
                  </a:moveTo>
                  <a:lnTo>
                    <a:pt x="6972300" y="0"/>
                  </a:lnTo>
                  <a:lnTo>
                    <a:pt x="6972300" y="5772150"/>
                  </a:lnTo>
                  <a:lnTo>
                    <a:pt x="0" y="5772150"/>
                  </a:lnTo>
                  <a:lnTo>
                    <a:pt x="0" y="0"/>
                  </a:lnTo>
                  <a:close/>
                </a:path>
              </a:pathLst>
            </a:custGeom>
            <a:blipFill>
              <a:blip r:embed="rId4"/>
              <a:stretch>
                <a:fillRect l="0" t="0" r="-215" b="0"/>
              </a:stretch>
            </a:blipFill>
          </p:spPr>
        </p:sp>
      </p:grpSp>
      <p:grpSp>
        <p:nvGrpSpPr>
          <p:cNvPr name="Group 6" id="6"/>
          <p:cNvGrpSpPr/>
          <p:nvPr/>
        </p:nvGrpSpPr>
        <p:grpSpPr>
          <a:xfrm rot="0">
            <a:off x="12184856" y="9120686"/>
            <a:ext cx="5229225" cy="4329112"/>
            <a:chOff x="0" y="0"/>
            <a:chExt cx="6972300" cy="5772150"/>
          </a:xfrm>
        </p:grpSpPr>
        <p:sp>
          <p:nvSpPr>
            <p:cNvPr name="Freeform 7" id="7" descr="image.png"/>
            <p:cNvSpPr/>
            <p:nvPr/>
          </p:nvSpPr>
          <p:spPr>
            <a:xfrm flipH="false" flipV="false" rot="0">
              <a:off x="0" y="0"/>
              <a:ext cx="6972300" cy="5772150"/>
            </a:xfrm>
            <a:custGeom>
              <a:avLst/>
              <a:gdLst/>
              <a:ahLst/>
              <a:cxnLst/>
              <a:rect r="r" b="b" t="t" l="l"/>
              <a:pathLst>
                <a:path h="5772150" w="6972300">
                  <a:moveTo>
                    <a:pt x="0" y="0"/>
                  </a:moveTo>
                  <a:lnTo>
                    <a:pt x="6972300" y="0"/>
                  </a:lnTo>
                  <a:lnTo>
                    <a:pt x="6972300" y="5772150"/>
                  </a:lnTo>
                  <a:lnTo>
                    <a:pt x="0" y="5772150"/>
                  </a:lnTo>
                  <a:lnTo>
                    <a:pt x="0" y="0"/>
                  </a:lnTo>
                  <a:close/>
                </a:path>
              </a:pathLst>
            </a:custGeom>
            <a:blipFill>
              <a:blip r:embed="rId5"/>
              <a:stretch>
                <a:fillRect l="0" t="0" r="-215" b="0"/>
              </a:stretch>
            </a:blipFill>
          </p:spPr>
        </p:sp>
      </p:grpSp>
      <p:sp>
        <p:nvSpPr>
          <p:cNvPr name="TextBox 8" id="8"/>
          <p:cNvSpPr txBox="true"/>
          <p:nvPr/>
        </p:nvSpPr>
        <p:spPr>
          <a:xfrm rot="0">
            <a:off x="1085850" y="6229350"/>
            <a:ext cx="2661603"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2</a:t>
            </a:r>
            <a:r>
              <a:rPr lang="en-US" sz="3600">
                <a:solidFill>
                  <a:srgbClr val="1E293B"/>
                </a:solidFill>
                <a:latin typeface="Montserrat"/>
                <a:ea typeface="Montserrat"/>
                <a:cs typeface="Montserrat"/>
                <a:sym typeface="Montserrat"/>
              </a:rPr>
              <a:t>. Objective</a:t>
            </a:r>
          </a:p>
        </p:txBody>
      </p:sp>
      <p:grpSp>
        <p:nvGrpSpPr>
          <p:cNvPr name="Group 9" id="9"/>
          <p:cNvGrpSpPr/>
          <p:nvPr/>
        </p:nvGrpSpPr>
        <p:grpSpPr>
          <a:xfrm rot="0">
            <a:off x="871538" y="6229350"/>
            <a:ext cx="71438" cy="557212"/>
            <a:chOff x="0" y="0"/>
            <a:chExt cx="95250" cy="742950"/>
          </a:xfrm>
        </p:grpSpPr>
        <p:sp>
          <p:nvSpPr>
            <p:cNvPr name="Freeform 10" id="10"/>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sp>
        <p:nvSpPr>
          <p:cNvPr name="TextBox 11" id="11"/>
          <p:cNvSpPr txBox="true"/>
          <p:nvPr/>
        </p:nvSpPr>
        <p:spPr>
          <a:xfrm rot="0">
            <a:off x="1385888" y="10406561"/>
            <a:ext cx="4560570" cy="385762"/>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RAM Matrix Parsing</a:t>
            </a:r>
          </a:p>
        </p:txBody>
      </p:sp>
      <p:sp>
        <p:nvSpPr>
          <p:cNvPr name="TextBox 12" id="12"/>
          <p:cNvSpPr txBox="true"/>
          <p:nvPr/>
        </p:nvSpPr>
        <p:spPr>
          <a:xfrm rot="0">
            <a:off x="1385888" y="10963774"/>
            <a:ext cx="4343400" cy="204311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Extract and downsample raw NES emulator internal memory to construct a clean 16x13 spatial quantization matrix centered on Mario.</a:t>
            </a:r>
          </a:p>
        </p:txBody>
      </p:sp>
      <p:sp>
        <p:nvSpPr>
          <p:cNvPr name="TextBox 13" id="13"/>
          <p:cNvSpPr txBox="true"/>
          <p:nvPr/>
        </p:nvSpPr>
        <p:spPr>
          <a:xfrm rot="0">
            <a:off x="12627769" y="10406561"/>
            <a:ext cx="4560570" cy="385762"/>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Optimize Speedruns</a:t>
            </a:r>
          </a:p>
        </p:txBody>
      </p:sp>
      <p:sp>
        <p:nvSpPr>
          <p:cNvPr name="TextBox 14" id="14"/>
          <p:cNvSpPr txBox="true"/>
          <p:nvPr/>
        </p:nvSpPr>
        <p:spPr>
          <a:xfrm rot="0">
            <a:off x="12627769" y="10963774"/>
            <a:ext cx="4343400" cy="204311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Maximize horizontal velocity, minimize completion frame limits, and eliminate death penalties during real-time evaluations.</a:t>
            </a:r>
          </a:p>
        </p:txBody>
      </p:sp>
      <p:grpSp>
        <p:nvGrpSpPr>
          <p:cNvPr name="Group 15" id="15"/>
          <p:cNvGrpSpPr/>
          <p:nvPr/>
        </p:nvGrpSpPr>
        <p:grpSpPr>
          <a:xfrm rot="0">
            <a:off x="1385888" y="9606461"/>
            <a:ext cx="457200" cy="457200"/>
            <a:chOff x="0" y="0"/>
            <a:chExt cx="609600" cy="609600"/>
          </a:xfrm>
        </p:grpSpPr>
        <p:sp>
          <p:nvSpPr>
            <p:cNvPr name="Freeform 16" id="16"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6"/>
              <a:stretch>
                <a:fillRect l="0" t="0" r="0" b="0"/>
              </a:stretch>
            </a:blipFill>
          </p:spPr>
        </p:sp>
      </p:grpSp>
      <p:grpSp>
        <p:nvGrpSpPr>
          <p:cNvPr name="Group 17" id="17"/>
          <p:cNvGrpSpPr/>
          <p:nvPr/>
        </p:nvGrpSpPr>
        <p:grpSpPr>
          <a:xfrm rot="0">
            <a:off x="12627769" y="9606461"/>
            <a:ext cx="400050" cy="457200"/>
            <a:chOff x="0" y="0"/>
            <a:chExt cx="533400" cy="609600"/>
          </a:xfrm>
        </p:grpSpPr>
        <p:sp>
          <p:nvSpPr>
            <p:cNvPr name="Freeform 18" id="18" descr="image.png"/>
            <p:cNvSpPr/>
            <p:nvPr/>
          </p:nvSpPr>
          <p:spPr>
            <a:xfrm flipH="false" flipV="false" rot="0">
              <a:off x="0" y="0"/>
              <a:ext cx="533400" cy="609600"/>
            </a:xfrm>
            <a:custGeom>
              <a:avLst/>
              <a:gdLst/>
              <a:ahLst/>
              <a:cxnLst/>
              <a:rect r="r" b="b" t="t" l="l"/>
              <a:pathLst>
                <a:path h="609600" w="533400">
                  <a:moveTo>
                    <a:pt x="0" y="0"/>
                  </a:moveTo>
                  <a:lnTo>
                    <a:pt x="533400" y="0"/>
                  </a:lnTo>
                  <a:lnTo>
                    <a:pt x="533400" y="609600"/>
                  </a:lnTo>
                  <a:lnTo>
                    <a:pt x="0" y="609600"/>
                  </a:lnTo>
                  <a:lnTo>
                    <a:pt x="0" y="0"/>
                  </a:lnTo>
                  <a:close/>
                </a:path>
              </a:pathLst>
            </a:custGeom>
            <a:blipFill>
              <a:blip r:embed="rId7"/>
              <a:stretch>
                <a:fillRect l="0" t="0" r="-433" b="0"/>
              </a:stretch>
            </a:blipFill>
          </p:spPr>
        </p:sp>
      </p:grpSp>
      <p:grpSp>
        <p:nvGrpSpPr>
          <p:cNvPr name="Group 19" id="19"/>
          <p:cNvGrpSpPr/>
          <p:nvPr/>
        </p:nvGrpSpPr>
        <p:grpSpPr>
          <a:xfrm rot="0">
            <a:off x="16134834" y="5592429"/>
            <a:ext cx="1281629" cy="1273842"/>
            <a:chOff x="0" y="0"/>
            <a:chExt cx="3028798" cy="3010395"/>
          </a:xfrm>
        </p:grpSpPr>
        <p:sp>
          <p:nvSpPr>
            <p:cNvPr name="Freeform 20" id="20"/>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8"/>
              <a:stretch>
                <a:fillRect l="0" t="-305" r="0" b="-305"/>
              </a:stretch>
            </a:blipFill>
          </p:spPr>
        </p:sp>
      </p:grpSp>
      <p:sp>
        <p:nvSpPr>
          <p:cNvPr name="TextBox 21" id="21"/>
          <p:cNvSpPr txBox="true"/>
          <p:nvPr/>
        </p:nvSpPr>
        <p:spPr>
          <a:xfrm rot="0">
            <a:off x="871538" y="7331891"/>
            <a:ext cx="15056353" cy="1788795"/>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To i</a:t>
            </a:r>
            <a:r>
              <a:rPr lang="en-US" sz="2025">
                <a:solidFill>
                  <a:srgbClr val="475569"/>
                </a:solidFill>
                <a:latin typeface="Montserrat"/>
                <a:ea typeface="Montserrat"/>
                <a:cs typeface="Montserrat"/>
                <a:sym typeface="Montserrat"/>
              </a:rPr>
              <a:t>mplement the NEAT algorithm for Super Mario Bros by extracting raw emulator RAM data to construct a relative spatial tile matrix and evolving neural network topologies and connection weights to maximize rightward</a:t>
            </a:r>
          </a:p>
          <a:p>
            <a:pPr algn="l">
              <a:lnSpc>
                <a:spcPts val="3645"/>
              </a:lnSpc>
            </a:pPr>
            <a:r>
              <a:rPr lang="en-US" sz="2025">
                <a:solidFill>
                  <a:srgbClr val="475569"/>
                </a:solidFill>
                <a:latin typeface="Montserrat"/>
                <a:ea typeface="Montserrat"/>
                <a:cs typeface="Montserrat"/>
                <a:sym typeface="Montserrat"/>
              </a:rPr>
              <a:t>progression and speedrun efficiency.</a:t>
            </a:r>
          </a:p>
          <a:p>
            <a:pPr algn="l">
              <a:lnSpc>
                <a:spcPts val="3645"/>
              </a:lnSpc>
            </a:pPr>
          </a:p>
        </p:txBody>
      </p:sp>
      <p:sp>
        <p:nvSpPr>
          <p:cNvPr name="TextBox 22" id="22"/>
          <p:cNvSpPr txBox="true"/>
          <p:nvPr/>
        </p:nvSpPr>
        <p:spPr>
          <a:xfrm rot="0">
            <a:off x="1028700" y="14677799"/>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23" id="23"/>
          <p:cNvGrpSpPr/>
          <p:nvPr/>
        </p:nvGrpSpPr>
        <p:grpSpPr>
          <a:xfrm rot="0">
            <a:off x="871538" y="7045041"/>
            <a:ext cx="16544925" cy="14288"/>
            <a:chOff x="0" y="0"/>
            <a:chExt cx="22059900" cy="19050"/>
          </a:xfrm>
        </p:grpSpPr>
        <p:sp>
          <p:nvSpPr>
            <p:cNvPr name="Freeform 24" id="24"/>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grpSp>
        <p:nvGrpSpPr>
          <p:cNvPr name="Group 25" id="25"/>
          <p:cNvGrpSpPr/>
          <p:nvPr/>
        </p:nvGrpSpPr>
        <p:grpSpPr>
          <a:xfrm rot="0">
            <a:off x="6565106" y="9120686"/>
            <a:ext cx="5229225" cy="4329112"/>
            <a:chOff x="0" y="0"/>
            <a:chExt cx="6972300" cy="5772150"/>
          </a:xfrm>
        </p:grpSpPr>
        <p:sp>
          <p:nvSpPr>
            <p:cNvPr name="Freeform 26" id="26" descr="image.png"/>
            <p:cNvSpPr/>
            <p:nvPr/>
          </p:nvSpPr>
          <p:spPr>
            <a:xfrm flipH="false" flipV="false" rot="0">
              <a:off x="0" y="0"/>
              <a:ext cx="6972300" cy="5772150"/>
            </a:xfrm>
            <a:custGeom>
              <a:avLst/>
              <a:gdLst/>
              <a:ahLst/>
              <a:cxnLst/>
              <a:rect r="r" b="b" t="t" l="l"/>
              <a:pathLst>
                <a:path h="5772150" w="6972300">
                  <a:moveTo>
                    <a:pt x="0" y="0"/>
                  </a:moveTo>
                  <a:lnTo>
                    <a:pt x="6972300" y="0"/>
                  </a:lnTo>
                  <a:lnTo>
                    <a:pt x="6972300" y="5772150"/>
                  </a:lnTo>
                  <a:lnTo>
                    <a:pt x="0" y="5772150"/>
                  </a:lnTo>
                  <a:lnTo>
                    <a:pt x="0" y="0"/>
                  </a:lnTo>
                  <a:close/>
                </a:path>
              </a:pathLst>
            </a:custGeom>
            <a:blipFill>
              <a:blip r:embed="rId9"/>
              <a:stretch>
                <a:fillRect l="0" t="0" r="0" b="-56"/>
              </a:stretch>
            </a:blipFill>
          </p:spPr>
        </p:sp>
      </p:grpSp>
      <p:sp>
        <p:nvSpPr>
          <p:cNvPr name="TextBox 27" id="27"/>
          <p:cNvSpPr txBox="true"/>
          <p:nvPr/>
        </p:nvSpPr>
        <p:spPr>
          <a:xfrm rot="0">
            <a:off x="7008019" y="10406561"/>
            <a:ext cx="4560570" cy="385762"/>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Deploy NEAT Core</a:t>
            </a:r>
          </a:p>
        </p:txBody>
      </p:sp>
      <p:sp>
        <p:nvSpPr>
          <p:cNvPr name="TextBox 28" id="28"/>
          <p:cNvSpPr txBox="true"/>
          <p:nvPr/>
        </p:nvSpPr>
        <p:spPr>
          <a:xfrm rot="0">
            <a:off x="7008019" y="10963774"/>
            <a:ext cx="4343400" cy="204311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Implement the NEAT framework to co-evolve neural network architectures and weights dynamically without handcrafting topographies.</a:t>
            </a:r>
          </a:p>
        </p:txBody>
      </p:sp>
      <p:grpSp>
        <p:nvGrpSpPr>
          <p:cNvPr name="Group 29" id="29"/>
          <p:cNvGrpSpPr/>
          <p:nvPr/>
        </p:nvGrpSpPr>
        <p:grpSpPr>
          <a:xfrm rot="0">
            <a:off x="7008019" y="9606461"/>
            <a:ext cx="571500" cy="457200"/>
            <a:chOff x="0" y="0"/>
            <a:chExt cx="762000" cy="609600"/>
          </a:xfrm>
        </p:grpSpPr>
        <p:sp>
          <p:nvSpPr>
            <p:cNvPr name="Freeform 30" id="30" descr="image.png"/>
            <p:cNvSpPr/>
            <p:nvPr/>
          </p:nvSpPr>
          <p:spPr>
            <a:xfrm flipH="false" flipV="false" rot="0">
              <a:off x="0" y="0"/>
              <a:ext cx="762000" cy="609600"/>
            </a:xfrm>
            <a:custGeom>
              <a:avLst/>
              <a:gdLst/>
              <a:ahLst/>
              <a:cxnLst/>
              <a:rect r="r" b="b" t="t" l="l"/>
              <a:pathLst>
                <a:path h="609600" w="762000">
                  <a:moveTo>
                    <a:pt x="0" y="0"/>
                  </a:moveTo>
                  <a:lnTo>
                    <a:pt x="762000" y="0"/>
                  </a:lnTo>
                  <a:lnTo>
                    <a:pt x="762000" y="609600"/>
                  </a:lnTo>
                  <a:lnTo>
                    <a:pt x="0" y="609600"/>
                  </a:lnTo>
                  <a:lnTo>
                    <a:pt x="0" y="0"/>
                  </a:lnTo>
                  <a:close/>
                </a:path>
              </a:pathLst>
            </a:custGeom>
            <a:blipFill>
              <a:blip r:embed="rId10"/>
              <a:stretch>
                <a:fillRect l="0" t="0" r="0" b="-3125"/>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85850" y="6229350"/>
            <a:ext cx="2928938"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3</a:t>
            </a:r>
            <a:r>
              <a:rPr lang="en-US" sz="3600">
                <a:solidFill>
                  <a:srgbClr val="1E293B"/>
                </a:solidFill>
                <a:latin typeface="Montserrat"/>
                <a:ea typeface="Montserrat"/>
                <a:cs typeface="Montserrat"/>
                <a:sym typeface="Montserrat"/>
              </a:rPr>
              <a:t>. Motivation</a:t>
            </a:r>
          </a:p>
        </p:txBody>
      </p:sp>
      <p:grpSp>
        <p:nvGrpSpPr>
          <p:cNvPr name="Group 5" id="5"/>
          <p:cNvGrpSpPr/>
          <p:nvPr/>
        </p:nvGrpSpPr>
        <p:grpSpPr>
          <a:xfrm rot="0">
            <a:off x="871538" y="6229350"/>
            <a:ext cx="71438" cy="557212"/>
            <a:chOff x="0" y="0"/>
            <a:chExt cx="95250" cy="742950"/>
          </a:xfrm>
        </p:grpSpPr>
        <p:sp>
          <p:nvSpPr>
            <p:cNvPr name="Freeform 6" id="6"/>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7" id="7"/>
          <p:cNvGrpSpPr/>
          <p:nvPr/>
        </p:nvGrpSpPr>
        <p:grpSpPr>
          <a:xfrm rot="0">
            <a:off x="16370803" y="5696448"/>
            <a:ext cx="1281629" cy="1273842"/>
            <a:chOff x="0" y="0"/>
            <a:chExt cx="3028798" cy="3010395"/>
          </a:xfrm>
        </p:grpSpPr>
        <p:sp>
          <p:nvSpPr>
            <p:cNvPr name="Freeform 8" id="8"/>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4"/>
              <a:stretch>
                <a:fillRect l="0" t="-305" r="0" b="-305"/>
              </a:stretch>
            </a:blipFill>
          </p:spPr>
        </p:sp>
      </p:grpSp>
      <p:sp>
        <p:nvSpPr>
          <p:cNvPr name="TextBox 9" id="9"/>
          <p:cNvSpPr txBox="true"/>
          <p:nvPr/>
        </p:nvSpPr>
        <p:spPr>
          <a:xfrm rot="0">
            <a:off x="871538" y="7866109"/>
            <a:ext cx="15357020" cy="4629739"/>
          </a:xfrm>
          <a:prstGeom prst="rect">
            <a:avLst/>
          </a:prstGeom>
        </p:spPr>
        <p:txBody>
          <a:bodyPr anchor="t" rtlCol="false" tIns="0" lIns="0" bIns="0" rIns="0">
            <a:spAutoFit/>
          </a:bodyPr>
          <a:lstStyle/>
          <a:p>
            <a:pPr algn="l" marL="445928" indent="-222964" lvl="1">
              <a:lnSpc>
                <a:spcPts val="3717"/>
              </a:lnSpc>
              <a:buFont typeface="Arial"/>
              <a:buChar char="•"/>
            </a:pPr>
            <a:r>
              <a:rPr lang="en-US" sz="2065">
                <a:solidFill>
                  <a:srgbClr val="475569"/>
                </a:solidFill>
                <a:latin typeface="Montserrat"/>
                <a:ea typeface="Montserrat"/>
                <a:cs typeface="Montserrat"/>
                <a:sym typeface="Montserrat"/>
              </a:rPr>
              <a:t>Traditional game AI often relies on handcrafted rules or computationally intensive deep learning models.</a:t>
            </a:r>
          </a:p>
          <a:p>
            <a:pPr algn="l" marL="445928" indent="-222964" lvl="1">
              <a:lnSpc>
                <a:spcPts val="3717"/>
              </a:lnSpc>
              <a:buFont typeface="Arial"/>
              <a:buChar char="•"/>
            </a:pPr>
            <a:r>
              <a:rPr lang="en-US" sz="2065">
                <a:solidFill>
                  <a:srgbClr val="475569"/>
                </a:solidFill>
                <a:latin typeface="Montserrat"/>
                <a:ea typeface="Montserrat"/>
                <a:cs typeface="Montserrat"/>
                <a:sym typeface="Montserrat"/>
              </a:rPr>
              <a:t>Neuroevolution offers an alternative by evolving neural networks without requiring labeled training data or backpropagation.</a:t>
            </a:r>
          </a:p>
          <a:p>
            <a:pPr algn="l" marL="445928" indent="-222964" lvl="1">
              <a:lnSpc>
                <a:spcPts val="3717"/>
              </a:lnSpc>
              <a:buFont typeface="Arial"/>
              <a:buChar char="•"/>
            </a:pPr>
            <a:r>
              <a:rPr lang="en-US" sz="2065">
                <a:solidFill>
                  <a:srgbClr val="475569"/>
                </a:solidFill>
                <a:latin typeface="Montserrat"/>
                <a:ea typeface="Montserrat"/>
                <a:cs typeface="Montserrat"/>
                <a:sym typeface="Montserrat"/>
              </a:rPr>
              <a:t>Processing raw game images is computationally expensive; a compact RAM/tile-based representation can improve training efficiency.</a:t>
            </a:r>
          </a:p>
          <a:p>
            <a:pPr algn="l" marL="445928" indent="-222964" lvl="1">
              <a:lnSpc>
                <a:spcPts val="3717"/>
              </a:lnSpc>
              <a:buFont typeface="Arial"/>
              <a:buChar char="•"/>
            </a:pPr>
            <a:r>
              <a:rPr lang="en-US" sz="2065">
                <a:solidFill>
                  <a:srgbClr val="475569"/>
                </a:solidFill>
                <a:latin typeface="Montserrat"/>
                <a:ea typeface="Montserrat"/>
                <a:cs typeface="Montserrat"/>
                <a:sym typeface="Montserrat"/>
              </a:rPr>
              <a:t>Super Mario Bros. provides a well-established benchmark for evaluating autonomous decision-making in dynamic environments.</a:t>
            </a:r>
          </a:p>
          <a:p>
            <a:pPr algn="l" marL="445928" indent="-222964" lvl="1">
              <a:lnSpc>
                <a:spcPts val="3717"/>
              </a:lnSpc>
              <a:buFont typeface="Arial"/>
              <a:buChar char="•"/>
            </a:pPr>
            <a:r>
              <a:rPr lang="en-US" sz="2065">
                <a:solidFill>
                  <a:srgbClr val="475569"/>
                </a:solidFill>
                <a:latin typeface="Montserrat"/>
                <a:ea typeface="Montserrat"/>
                <a:cs typeface="Montserrat"/>
                <a:sym typeface="Montserrat"/>
              </a:rPr>
              <a:t>This project explores an efficient and scalable approach to reinforcement learning that can be extended to more complex real-world autonomous systems.</a:t>
            </a:r>
          </a:p>
          <a:p>
            <a:pPr algn="l">
              <a:lnSpc>
                <a:spcPts val="3717"/>
              </a:lnSpc>
            </a:pPr>
          </a:p>
        </p:txBody>
      </p:sp>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11" id="11"/>
          <p:cNvGrpSpPr/>
          <p:nvPr/>
        </p:nvGrpSpPr>
        <p:grpSpPr>
          <a:xfrm rot="0">
            <a:off x="871538" y="7045041"/>
            <a:ext cx="16544925" cy="14288"/>
            <a:chOff x="0" y="0"/>
            <a:chExt cx="22059900" cy="19050"/>
          </a:xfrm>
        </p:grpSpPr>
        <p:sp>
          <p:nvSpPr>
            <p:cNvPr name="Freeform 12" id="12"/>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85850" y="6229350"/>
            <a:ext cx="5145881"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4</a:t>
            </a:r>
            <a:r>
              <a:rPr lang="en-US" sz="3600">
                <a:solidFill>
                  <a:srgbClr val="1E293B"/>
                </a:solidFill>
                <a:latin typeface="Montserrat"/>
                <a:ea typeface="Montserrat"/>
                <a:cs typeface="Montserrat"/>
                <a:sym typeface="Montserrat"/>
              </a:rPr>
              <a:t>. Scope of the Project</a:t>
            </a:r>
          </a:p>
        </p:txBody>
      </p:sp>
      <p:grpSp>
        <p:nvGrpSpPr>
          <p:cNvPr name="Group 5" id="5"/>
          <p:cNvGrpSpPr/>
          <p:nvPr/>
        </p:nvGrpSpPr>
        <p:grpSpPr>
          <a:xfrm rot="0">
            <a:off x="871538" y="6229350"/>
            <a:ext cx="71438" cy="557212"/>
            <a:chOff x="0" y="0"/>
            <a:chExt cx="95250" cy="742950"/>
          </a:xfrm>
        </p:grpSpPr>
        <p:sp>
          <p:nvSpPr>
            <p:cNvPr name="Freeform 6" id="6"/>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7" id="7"/>
          <p:cNvGrpSpPr/>
          <p:nvPr/>
        </p:nvGrpSpPr>
        <p:grpSpPr>
          <a:xfrm rot="0">
            <a:off x="16370803" y="5696448"/>
            <a:ext cx="1281629" cy="1273842"/>
            <a:chOff x="0" y="0"/>
            <a:chExt cx="3028798" cy="3010395"/>
          </a:xfrm>
        </p:grpSpPr>
        <p:sp>
          <p:nvSpPr>
            <p:cNvPr name="Freeform 8" id="8"/>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4"/>
              <a:stretch>
                <a:fillRect l="0" t="-305" r="0" b="-305"/>
              </a:stretch>
            </a:blipFill>
          </p:spPr>
        </p:sp>
      </p:grpSp>
      <p:sp>
        <p:nvSpPr>
          <p:cNvPr name="TextBox 9" id="9"/>
          <p:cNvSpPr txBox="true"/>
          <p:nvPr/>
        </p:nvSpPr>
        <p:spPr>
          <a:xfrm rot="0">
            <a:off x="1028700" y="7779251"/>
            <a:ext cx="16230600" cy="4202938"/>
          </a:xfrm>
          <a:prstGeom prst="rect">
            <a:avLst/>
          </a:prstGeom>
        </p:spPr>
        <p:txBody>
          <a:bodyPr anchor="t" rtlCol="false" tIns="0" lIns="0" bIns="0" rIns="0">
            <a:spAutoFit/>
          </a:bodyPr>
          <a:lstStyle/>
          <a:p>
            <a:pPr algn="l" marL="451343" indent="-225672" lvl="1">
              <a:lnSpc>
                <a:spcPts val="3762"/>
              </a:lnSpc>
              <a:buFont typeface="Arial"/>
              <a:buChar char="•"/>
            </a:pPr>
            <a:r>
              <a:rPr lang="en-US" sz="2090">
                <a:solidFill>
                  <a:srgbClr val="475569"/>
                </a:solidFill>
                <a:latin typeface="Montserrat"/>
                <a:ea typeface="Montserrat"/>
                <a:cs typeface="Montserrat"/>
                <a:sym typeface="Montserrat"/>
              </a:rPr>
              <a:t> Game Environment: The agent is trained and evaluated exclusively on the early stages of Super Mario Bros. (primarily Level 1-1) using the stable ret</a:t>
            </a:r>
            <a:r>
              <a:rPr lang="en-US" sz="2090">
                <a:solidFill>
                  <a:srgbClr val="475569"/>
                </a:solidFill>
                <a:latin typeface="Montserrat"/>
                <a:ea typeface="Montserrat"/>
                <a:cs typeface="Montserrat"/>
                <a:sym typeface="Montserrat"/>
              </a:rPr>
              <a:t>ro NES emulator. </a:t>
            </a:r>
          </a:p>
          <a:p>
            <a:pPr algn="l" marL="451343" indent="-225672" lvl="1">
              <a:lnSpc>
                <a:spcPts val="3762"/>
              </a:lnSpc>
              <a:buFont typeface="Arial"/>
              <a:buChar char="•"/>
            </a:pPr>
            <a:r>
              <a:rPr lang="en-US" sz="2090">
                <a:solidFill>
                  <a:srgbClr val="475569"/>
                </a:solidFill>
                <a:latin typeface="Montserrat"/>
                <a:ea typeface="Montserrat"/>
                <a:cs typeface="Montserrat"/>
                <a:sym typeface="Montserrat"/>
              </a:rPr>
              <a:t>Algorithm Focus: The core artificial intelligence model relies strictly on NEAT. Other algorithms such as Deep Q-Networks (DQN) or Proximal Pol- icy Optimization (PPO) are discussed for comparative analysis but are not implemented as part of the primary control policy. </a:t>
            </a:r>
          </a:p>
          <a:p>
            <a:pPr algn="l" marL="451343" indent="-225672" lvl="1">
              <a:lnSpc>
                <a:spcPts val="3762"/>
              </a:lnSpc>
              <a:buFont typeface="Arial"/>
              <a:buChar char="•"/>
            </a:pPr>
            <a:r>
              <a:rPr lang="en-US" sz="2090">
                <a:solidFill>
                  <a:srgbClr val="475569"/>
                </a:solidFill>
                <a:latin typeface="Montserrat"/>
                <a:ea typeface="Montserrat"/>
                <a:cs typeface="Montserrat"/>
                <a:sym typeface="Montserrat"/>
              </a:rPr>
              <a:t>Input State Extraction: The project utilizes direct RAM memory scrap- ing to extract absolute spatial coordinates and entity states, specifically bypassing raw pixel-level computer vision processing to minimize hardware constraints. </a:t>
            </a:r>
          </a:p>
          <a:p>
            <a:pPr algn="l" marL="451343" indent="-225672" lvl="1">
              <a:lnSpc>
                <a:spcPts val="3762"/>
              </a:lnSpc>
              <a:buFont typeface="Arial"/>
              <a:buChar char="•"/>
            </a:pPr>
            <a:r>
              <a:rPr lang="en-US" sz="2090">
                <a:solidFill>
                  <a:srgbClr val="475569"/>
                </a:solidFill>
                <a:latin typeface="Montserrat"/>
                <a:ea typeface="Montserrat"/>
                <a:cs typeface="Montserrat"/>
                <a:sym typeface="Montserrat"/>
              </a:rPr>
              <a:t>Execution Environment: Development and training are containerized us- ing Docker, ensuring cross-platform compatibility, while training operations are strictly CPU-bound.</a:t>
            </a:r>
          </a:p>
        </p:txBody>
      </p:sp>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11" id="11"/>
          <p:cNvGrpSpPr/>
          <p:nvPr/>
        </p:nvGrpSpPr>
        <p:grpSpPr>
          <a:xfrm rot="0">
            <a:off x="871538" y="7045041"/>
            <a:ext cx="16544925" cy="14288"/>
            <a:chOff x="0" y="0"/>
            <a:chExt cx="22059900" cy="19050"/>
          </a:xfrm>
        </p:grpSpPr>
        <p:sp>
          <p:nvSpPr>
            <p:cNvPr name="Freeform 12" id="12"/>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71538" y="6229350"/>
            <a:ext cx="71438" cy="557212"/>
            <a:chOff x="0" y="0"/>
            <a:chExt cx="95250" cy="742950"/>
          </a:xfrm>
        </p:grpSpPr>
        <p:sp>
          <p:nvSpPr>
            <p:cNvPr name="Freeform 5" id="5"/>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6" id="6"/>
          <p:cNvGrpSpPr/>
          <p:nvPr/>
        </p:nvGrpSpPr>
        <p:grpSpPr>
          <a:xfrm rot="0">
            <a:off x="16370803" y="5696448"/>
            <a:ext cx="1281629" cy="1273842"/>
            <a:chOff x="0" y="0"/>
            <a:chExt cx="3028798" cy="3010395"/>
          </a:xfrm>
        </p:grpSpPr>
        <p:sp>
          <p:nvSpPr>
            <p:cNvPr name="Freeform 7" id="7"/>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4"/>
              <a:stretch>
                <a:fillRect l="0" t="-305" r="0" b="-305"/>
              </a:stretch>
            </a:blipFill>
          </p:spPr>
        </p:sp>
      </p:grpSp>
      <p:graphicFrame>
        <p:nvGraphicFramePr>
          <p:cNvPr name="Table 8" id="8"/>
          <p:cNvGraphicFramePr>
            <a:graphicFrameLocks noGrp="true"/>
          </p:cNvGraphicFramePr>
          <p:nvPr/>
        </p:nvGraphicFramePr>
        <p:xfrm>
          <a:off x="987743" y="7244484"/>
          <a:ext cx="16230600" cy="7419975"/>
        </p:xfrm>
        <a:graphic>
          <a:graphicData uri="http://schemas.openxmlformats.org/drawingml/2006/table">
            <a:tbl>
              <a:tblPr/>
              <a:tblGrid>
                <a:gridCol w="4710231"/>
                <a:gridCol w="6025834"/>
                <a:gridCol w="5494535"/>
              </a:tblGrid>
              <a:tr h="823378">
                <a:tc>
                  <a:txBody>
                    <a:bodyPr anchor="t" rtlCol="false"/>
                    <a:lstStyle/>
                    <a:p>
                      <a:pPr algn="ctr">
                        <a:lnSpc>
                          <a:spcPts val="2835"/>
                        </a:lnSpc>
                        <a:defRPr/>
                      </a:pPr>
                      <a:r>
                        <a:rPr lang="en-US" sz="2025">
                          <a:solidFill>
                            <a:srgbClr val="000000"/>
                          </a:solidFill>
                          <a:latin typeface="Montserrat"/>
                          <a:ea typeface="Montserrat"/>
                          <a:cs typeface="Montserrat"/>
                          <a:sym typeface="Montserrat"/>
                        </a:rPr>
                        <a:t>Paper &amp; Author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Core Domain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Links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77622">
                <a:tc>
                  <a:txBody>
                    <a:bodyPr anchor="t" rtlCol="false"/>
                    <a:lstStyle/>
                    <a:p>
                      <a:pPr algn="ctr">
                        <a:lnSpc>
                          <a:spcPts val="2835"/>
                        </a:lnSpc>
                        <a:defRPr/>
                      </a:pPr>
                      <a:r>
                        <a:rPr lang="en-US" sz="2025">
                          <a:solidFill>
                            <a:srgbClr val="000000"/>
                          </a:solidFill>
                          <a:latin typeface="Montserrat"/>
                          <a:ea typeface="Montserrat"/>
                          <a:cs typeface="Montserrat"/>
                          <a:sym typeface="Montserrat"/>
                        </a:rPr>
                        <a:t>NEAT Foundation</a:t>
                      </a:r>
                      <a:endParaRPr lang="en-US" sz="1100"/>
                    </a:p>
                    <a:p>
                      <a:pPr algn="ctr">
                        <a:lnSpc>
                          <a:spcPts val="2835"/>
                        </a:lnSpc>
                      </a:pPr>
                      <a:r>
                        <a:rPr lang="en-US" sz="2025" i="true">
                          <a:solidFill>
                            <a:srgbClr val="000000"/>
                          </a:solidFill>
                          <a:latin typeface="Montserrat Italics"/>
                          <a:ea typeface="Montserrat Italics"/>
                          <a:cs typeface="Montserrat Italics"/>
                          <a:sym typeface="Montserrat Italics"/>
                        </a:rPr>
                        <a:t>(Stanley &amp; Miikkulainen, 2002)</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Evolving neural network weights and topologies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https://nn.cs.utexas.edu/downloads/papers/stanley.ec02.pdf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77622">
                <a:tc>
                  <a:txBody>
                    <a:bodyPr anchor="t" rtlCol="false"/>
                    <a:lstStyle/>
                    <a:p>
                      <a:pPr algn="ctr">
                        <a:lnSpc>
                          <a:spcPts val="2835"/>
                        </a:lnSpc>
                        <a:defRPr/>
                      </a:pPr>
                      <a:r>
                        <a:rPr lang="en-US" sz="2025">
                          <a:solidFill>
                            <a:srgbClr val="000000"/>
                          </a:solidFill>
                          <a:latin typeface="Montserrat"/>
                          <a:ea typeface="Montserrat"/>
                          <a:cs typeface="Montserrat"/>
                          <a:sym typeface="Montserrat"/>
                        </a:rPr>
                        <a:t>rtNEAT / NERO Game</a:t>
                      </a:r>
                      <a:endParaRPr lang="en-US" sz="1100"/>
                    </a:p>
                    <a:p>
                      <a:pPr algn="ctr">
                        <a:lnSpc>
                          <a:spcPts val="2835"/>
                        </a:lnSpc>
                      </a:pPr>
                      <a:r>
                        <a:rPr lang="en-US" sz="2025">
                          <a:solidFill>
                            <a:srgbClr val="000000"/>
                          </a:solidFill>
                          <a:latin typeface="Montserrat"/>
                          <a:ea typeface="Montserrat"/>
                          <a:cs typeface="Montserrat"/>
                          <a:sym typeface="Montserrat"/>
                        </a:rPr>
                        <a:t>(</a:t>
                      </a:r>
                      <a:r>
                        <a:rPr lang="en-US" sz="2025" i="true">
                          <a:solidFill>
                            <a:srgbClr val="000000"/>
                          </a:solidFill>
                          <a:latin typeface="Montserrat Italics"/>
                          <a:ea typeface="Montserrat Italics"/>
                          <a:cs typeface="Montserrat Italics"/>
                          <a:sym typeface="Montserrat Italics"/>
                        </a:rPr>
                        <a:t>Stanley et al., 2005)</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Real-Time Adaptation in Interactive Games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https://nn.cs.utexas.edu/downloads/papers/stanley.ec02.pdf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31866">
                <a:tc>
                  <a:txBody>
                    <a:bodyPr anchor="t" rtlCol="false"/>
                    <a:lstStyle/>
                    <a:p>
                      <a:pPr algn="ctr">
                        <a:lnSpc>
                          <a:spcPts val="2835"/>
                        </a:lnSpc>
                        <a:defRPr/>
                      </a:pPr>
                      <a:r>
                        <a:rPr lang="en-US" sz="2025">
                          <a:solidFill>
                            <a:srgbClr val="000000"/>
                          </a:solidFill>
                          <a:latin typeface="Montserrat"/>
                          <a:ea typeface="Montserrat"/>
                          <a:cs typeface="Montserrat"/>
                          <a:sym typeface="Montserrat"/>
                        </a:rPr>
                        <a:t>Atari Game Benchmark</a:t>
                      </a:r>
                      <a:endParaRPr lang="en-US" sz="1100"/>
                    </a:p>
                    <a:p>
                      <a:pPr algn="ctr">
                        <a:lnSpc>
                          <a:spcPts val="2835"/>
                        </a:lnSpc>
                      </a:pPr>
                      <a:r>
                        <a:rPr lang="en-US" sz="2025" i="true">
                          <a:solidFill>
                            <a:srgbClr val="000000"/>
                          </a:solidFill>
                          <a:latin typeface="Montserrat Italics"/>
                          <a:ea typeface="Montserrat Italics"/>
                          <a:cs typeface="Montserrat Italics"/>
                          <a:sym typeface="Montserrat Italics"/>
                        </a:rPr>
                        <a:t>(Hausknecht et al., 2013)</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Generalization &amp; High-Dimensional Inputs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https://www.cs.utexas.edu/~pstone/Papers/bib2html-links/TCIAIG13-mhauskn.pdf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31866">
                <a:tc>
                  <a:txBody>
                    <a:bodyPr anchor="t" rtlCol="false"/>
                    <a:lstStyle/>
                    <a:p>
                      <a:pPr algn="ctr">
                        <a:lnSpc>
                          <a:spcPts val="2835"/>
                        </a:lnSpc>
                        <a:defRPr/>
                      </a:pPr>
                      <a:r>
                        <a:rPr lang="en-US" sz="2025">
                          <a:solidFill>
                            <a:srgbClr val="000000"/>
                          </a:solidFill>
                          <a:latin typeface="Montserrat"/>
                          <a:ea typeface="Montserrat"/>
                          <a:cs typeface="Montserrat"/>
                          <a:sym typeface="Montserrat"/>
                        </a:rPr>
                        <a:t>Super Mario Evolution</a:t>
                      </a:r>
                      <a:endParaRPr lang="en-US" sz="1100"/>
                    </a:p>
                    <a:p>
                      <a:pPr algn="ctr">
                        <a:lnSpc>
                          <a:spcPts val="2835"/>
                        </a:lnSpc>
                      </a:pPr>
                      <a:r>
                        <a:rPr lang="en-US" sz="2025" i="true">
                          <a:solidFill>
                            <a:srgbClr val="000000"/>
                          </a:solidFill>
                          <a:latin typeface="Montserrat Italics"/>
                          <a:ea typeface="Montserrat Italics"/>
                          <a:cs typeface="Montserrat Italics"/>
                          <a:sym typeface="Montserrat Italics"/>
                        </a:rPr>
                        <a:t>(Autin, MS Thesis, 2024)</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Game Testing &amp; Overfitting Prevention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https://scholarworks.uno.edu/cgi/viewcontent.cgi?article=4453&amp;context=td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77622">
                <a:tc>
                  <a:txBody>
                    <a:bodyPr anchor="t" rtlCol="false"/>
                    <a:lstStyle/>
                    <a:p>
                      <a:pPr algn="ctr">
                        <a:lnSpc>
                          <a:spcPts val="2835"/>
                        </a:lnSpc>
                        <a:defRPr/>
                      </a:pPr>
                      <a:r>
                        <a:rPr lang="en-US" sz="2025">
                          <a:solidFill>
                            <a:srgbClr val="000000"/>
                          </a:solidFill>
                          <a:latin typeface="Montserrat"/>
                          <a:ea typeface="Montserrat"/>
                          <a:cs typeface="Montserrat"/>
                          <a:sym typeface="Montserrat"/>
                        </a:rPr>
                        <a:t>TensorNEAT</a:t>
                      </a:r>
                      <a:endParaRPr lang="en-US" sz="1100"/>
                    </a:p>
                    <a:p>
                      <a:pPr algn="ctr">
                        <a:lnSpc>
                          <a:spcPts val="2835"/>
                        </a:lnSpc>
                      </a:pPr>
                      <a:r>
                        <a:rPr lang="en-US" sz="2025" i="true">
                          <a:solidFill>
                            <a:srgbClr val="000000"/>
                          </a:solidFill>
                          <a:latin typeface="Montserrat Italics"/>
                          <a:ea typeface="Montserrat Italics"/>
                          <a:cs typeface="Montserrat Italics"/>
                          <a:sym typeface="Montserrat Italics"/>
                        </a:rPr>
                        <a:t>(Zhang et al., 2024/2025)</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GPU Acceleration &amp; Parallel Computing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https://arxiv.org/pdf/2504.08339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9" id="9"/>
          <p:cNvSpPr txBox="true"/>
          <p:nvPr/>
        </p:nvSpPr>
        <p:spPr>
          <a:xfrm rot="0">
            <a:off x="1085850" y="6229350"/>
            <a:ext cx="4511199"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5</a:t>
            </a:r>
            <a:r>
              <a:rPr lang="en-US" sz="3600">
                <a:solidFill>
                  <a:srgbClr val="1E293B"/>
                </a:solidFill>
                <a:latin typeface="Montserrat"/>
                <a:ea typeface="Montserrat"/>
                <a:cs typeface="Montserrat"/>
                <a:sym typeface="Montserrat"/>
              </a:rPr>
              <a:t>. Literature Review</a:t>
            </a:r>
          </a:p>
        </p:txBody>
      </p:sp>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11" id="11"/>
          <p:cNvGrpSpPr/>
          <p:nvPr/>
        </p:nvGrpSpPr>
        <p:grpSpPr>
          <a:xfrm rot="0">
            <a:off x="871538" y="7045041"/>
            <a:ext cx="16544925" cy="14288"/>
            <a:chOff x="0" y="0"/>
            <a:chExt cx="22059900" cy="19050"/>
          </a:xfrm>
        </p:grpSpPr>
        <p:sp>
          <p:nvSpPr>
            <p:cNvPr name="Freeform 12" id="12"/>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71538" y="6243638"/>
            <a:ext cx="9777349"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Methodology - Whole Project(Video)</a:t>
            </a:r>
          </a:p>
        </p:txBody>
      </p:sp>
      <p:grpSp>
        <p:nvGrpSpPr>
          <p:cNvPr name="Group 3" id="3"/>
          <p:cNvGrpSpPr/>
          <p:nvPr/>
        </p:nvGrpSpPr>
        <p:grpSpPr>
          <a:xfrm rot="0">
            <a:off x="871538" y="6229350"/>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16370803" y="5696448"/>
            <a:ext cx="1281629" cy="1273842"/>
            <a:chOff x="0" y="0"/>
            <a:chExt cx="3028798" cy="3010395"/>
          </a:xfrm>
        </p:grpSpPr>
        <p:sp>
          <p:nvSpPr>
            <p:cNvPr name="Freeform 6" id="6"/>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grpSp>
        <p:nvGrpSpPr>
          <p:cNvPr name="Group 7" id="7"/>
          <p:cNvGrpSpPr/>
          <p:nvPr/>
        </p:nvGrpSpPr>
        <p:grpSpPr>
          <a:xfrm rot="0">
            <a:off x="871538" y="7045041"/>
            <a:ext cx="16544925" cy="14288"/>
            <a:chOff x="0" y="0"/>
            <a:chExt cx="22059900" cy="19050"/>
          </a:xfrm>
        </p:grpSpPr>
        <p:sp>
          <p:nvSpPr>
            <p:cNvPr name="Freeform 8" id="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pic>
        <p:nvPicPr>
          <p:cNvPr name="Picture 9" id="9">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2485065" y="7143771"/>
            <a:ext cx="13317870" cy="7491302"/>
          </a:xfrm>
          <a:prstGeom prst="rect">
            <a:avLst/>
          </a:prstGeom>
        </p:spPr>
      </p:pic>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Tree>
  </p:cSld>
  <p:clrMapOvr>
    <a:masterClrMapping/>
  </p:clrMapOvr>
  <p:timing>
    <p:tnLst>
      <p:par>
        <p:cTn dur="indefinite" restart="never" nodeType="tmRoot">
          <p:childTnLst>
            <p:video>
              <p:cMediaNode vol="100000">
                <p:cTn fill="hold" display="false">
                  <p:stCondLst>
                    <p:cond delay="indefinite"/>
                  </p:stCondLst>
                </p:cTn>
                <p:tgtEl>
                  <p:spTgt spid="9"/>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71538" y="8729662"/>
            <a:ext cx="7986712" cy="4457700"/>
            <a:chOff x="0" y="0"/>
            <a:chExt cx="10648950" cy="5943600"/>
          </a:xfrm>
        </p:grpSpPr>
        <p:sp>
          <p:nvSpPr>
            <p:cNvPr name="Freeform 5" id="5" descr="image.png"/>
            <p:cNvSpPr/>
            <p:nvPr/>
          </p:nvSpPr>
          <p:spPr>
            <a:xfrm flipH="false" flipV="false" rot="0">
              <a:off x="0" y="0"/>
              <a:ext cx="10648950" cy="5943600"/>
            </a:xfrm>
            <a:custGeom>
              <a:avLst/>
              <a:gdLst/>
              <a:ahLst/>
              <a:cxnLst/>
              <a:rect r="r" b="b" t="t" l="l"/>
              <a:pathLst>
                <a:path h="5943600" w="10648950">
                  <a:moveTo>
                    <a:pt x="0" y="0"/>
                  </a:moveTo>
                  <a:lnTo>
                    <a:pt x="10648950" y="0"/>
                  </a:lnTo>
                  <a:lnTo>
                    <a:pt x="10648950" y="5943600"/>
                  </a:lnTo>
                  <a:lnTo>
                    <a:pt x="0" y="5943600"/>
                  </a:lnTo>
                  <a:lnTo>
                    <a:pt x="0" y="0"/>
                  </a:lnTo>
                  <a:close/>
                </a:path>
              </a:pathLst>
            </a:custGeom>
            <a:blipFill>
              <a:blip r:embed="rId4"/>
              <a:stretch>
                <a:fillRect l="0" t="0" r="-178" b="0"/>
              </a:stretch>
            </a:blipFill>
          </p:spPr>
        </p:sp>
      </p:grpSp>
      <p:sp>
        <p:nvSpPr>
          <p:cNvPr name="TextBox 6" id="6"/>
          <p:cNvSpPr txBox="true"/>
          <p:nvPr/>
        </p:nvSpPr>
        <p:spPr>
          <a:xfrm rot="0">
            <a:off x="1109697" y="6244941"/>
            <a:ext cx="7630001"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6</a:t>
            </a:r>
            <a:r>
              <a:rPr lang="en-US" sz="3600">
                <a:solidFill>
                  <a:srgbClr val="1E293B"/>
                </a:solidFill>
                <a:latin typeface="Montserrat"/>
                <a:ea typeface="Montserrat"/>
                <a:cs typeface="Montserrat"/>
                <a:sym typeface="Montserrat"/>
              </a:rPr>
              <a:t>. Methodology - Core Mechanics</a:t>
            </a:r>
          </a:p>
        </p:txBody>
      </p:sp>
      <p:grpSp>
        <p:nvGrpSpPr>
          <p:cNvPr name="Group 7" id="7"/>
          <p:cNvGrpSpPr/>
          <p:nvPr/>
        </p:nvGrpSpPr>
        <p:grpSpPr>
          <a:xfrm rot="0">
            <a:off x="871538" y="6229350"/>
            <a:ext cx="71438" cy="557212"/>
            <a:chOff x="0" y="0"/>
            <a:chExt cx="95250" cy="742950"/>
          </a:xfrm>
        </p:grpSpPr>
        <p:sp>
          <p:nvSpPr>
            <p:cNvPr name="Freeform 8" id="8"/>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sp>
        <p:nvSpPr>
          <p:cNvPr name="TextBox 9" id="9"/>
          <p:cNvSpPr txBox="true"/>
          <p:nvPr/>
        </p:nvSpPr>
        <p:spPr>
          <a:xfrm rot="0">
            <a:off x="1314450" y="9172575"/>
            <a:ext cx="5324078" cy="371450"/>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Emulator Hooking &amp; RAM Parsing</a:t>
            </a:r>
          </a:p>
        </p:txBody>
      </p:sp>
      <p:sp>
        <p:nvSpPr>
          <p:cNvPr name="TextBox 10" id="10"/>
          <p:cNvSpPr txBox="true"/>
          <p:nvPr/>
        </p:nvSpPr>
        <p:spPr>
          <a:xfrm rot="0">
            <a:off x="1314450" y="9586912"/>
            <a:ext cx="7100888" cy="1331446"/>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The training pipeline directly hooks into 2KB interal WRAM. The agent’s global position along with the environment is calculated as :</a:t>
            </a:r>
          </a:p>
        </p:txBody>
      </p:sp>
      <p:sp>
        <p:nvSpPr>
          <p:cNvPr name="TextBox 11" id="11"/>
          <p:cNvSpPr txBox="true"/>
          <p:nvPr/>
        </p:nvSpPr>
        <p:spPr>
          <a:xfrm rot="0">
            <a:off x="1743075" y="10958512"/>
            <a:ext cx="6672262" cy="417145"/>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Player position state :</a:t>
            </a:r>
          </a:p>
        </p:txBody>
      </p:sp>
      <p:sp>
        <p:nvSpPr>
          <p:cNvPr name="TextBox 12" id="12"/>
          <p:cNvSpPr txBox="true"/>
          <p:nvPr/>
        </p:nvSpPr>
        <p:spPr>
          <a:xfrm rot="0">
            <a:off x="1743075" y="11515725"/>
            <a:ext cx="6672262" cy="417145"/>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Ac</a:t>
            </a:r>
            <a:r>
              <a:rPr lang="en-US" sz="2025">
                <a:solidFill>
                  <a:srgbClr val="475569"/>
                </a:solidFill>
                <a:latin typeface="Montserrat"/>
                <a:ea typeface="Montserrat"/>
                <a:cs typeface="Montserrat"/>
                <a:sym typeface="Montserrat"/>
              </a:rPr>
              <a:t>tive Enemy/Sprite Metadata</a:t>
            </a:r>
          </a:p>
        </p:txBody>
      </p:sp>
      <p:sp>
        <p:nvSpPr>
          <p:cNvPr name="TextBox 13" id="13"/>
          <p:cNvSpPr txBox="true"/>
          <p:nvPr/>
        </p:nvSpPr>
        <p:spPr>
          <a:xfrm rot="0">
            <a:off x="1743075" y="12072938"/>
            <a:ext cx="6672262" cy="417145"/>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 Static Level Geometry Blocks</a:t>
            </a:r>
          </a:p>
        </p:txBody>
      </p:sp>
      <p:grpSp>
        <p:nvGrpSpPr>
          <p:cNvPr name="Group 14" id="14"/>
          <p:cNvGrpSpPr/>
          <p:nvPr/>
        </p:nvGrpSpPr>
        <p:grpSpPr>
          <a:xfrm rot="0">
            <a:off x="1314450" y="11065669"/>
            <a:ext cx="142875" cy="385762"/>
            <a:chOff x="0" y="0"/>
            <a:chExt cx="190500" cy="514350"/>
          </a:xfrm>
        </p:grpSpPr>
        <p:sp>
          <p:nvSpPr>
            <p:cNvPr name="Freeform 15" id="15" descr="image.png"/>
            <p:cNvSpPr/>
            <p:nvPr/>
          </p:nvSpPr>
          <p:spPr>
            <a:xfrm flipH="false" flipV="false" rot="0">
              <a:off x="0" y="0"/>
              <a:ext cx="190500" cy="514350"/>
            </a:xfrm>
            <a:custGeom>
              <a:avLst/>
              <a:gdLst/>
              <a:ahLst/>
              <a:cxnLst/>
              <a:rect r="r" b="b" t="t" l="l"/>
              <a:pathLst>
                <a:path h="514350" w="190500">
                  <a:moveTo>
                    <a:pt x="0" y="0"/>
                  </a:moveTo>
                  <a:lnTo>
                    <a:pt x="190500" y="0"/>
                  </a:lnTo>
                  <a:lnTo>
                    <a:pt x="190500" y="514350"/>
                  </a:lnTo>
                  <a:lnTo>
                    <a:pt x="0" y="514350"/>
                  </a:lnTo>
                  <a:lnTo>
                    <a:pt x="0" y="0"/>
                  </a:lnTo>
                  <a:close/>
                </a:path>
              </a:pathLst>
            </a:custGeom>
            <a:blipFill>
              <a:blip r:embed="rId5"/>
              <a:stretch>
                <a:fillRect l="0" t="0" r="0" b="0"/>
              </a:stretch>
            </a:blipFill>
          </p:spPr>
        </p:sp>
      </p:grpSp>
      <p:grpSp>
        <p:nvGrpSpPr>
          <p:cNvPr name="Group 16" id="16"/>
          <p:cNvGrpSpPr/>
          <p:nvPr/>
        </p:nvGrpSpPr>
        <p:grpSpPr>
          <a:xfrm rot="0">
            <a:off x="16332736" y="5778343"/>
            <a:ext cx="1281629" cy="1273842"/>
            <a:chOff x="0" y="0"/>
            <a:chExt cx="3028798" cy="3010395"/>
          </a:xfrm>
        </p:grpSpPr>
        <p:sp>
          <p:nvSpPr>
            <p:cNvPr name="Freeform 17" id="17"/>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6"/>
              <a:stretch>
                <a:fillRect l="0" t="-305" r="0" b="-305"/>
              </a:stretch>
            </a:blipFill>
          </p:spPr>
        </p:sp>
      </p:grpSp>
      <p:grpSp>
        <p:nvGrpSpPr>
          <p:cNvPr name="Group 18" id="18"/>
          <p:cNvGrpSpPr/>
          <p:nvPr/>
        </p:nvGrpSpPr>
        <p:grpSpPr>
          <a:xfrm rot="0">
            <a:off x="1314450" y="11582919"/>
            <a:ext cx="142875" cy="385762"/>
            <a:chOff x="0" y="0"/>
            <a:chExt cx="190500" cy="514350"/>
          </a:xfrm>
        </p:grpSpPr>
        <p:sp>
          <p:nvSpPr>
            <p:cNvPr name="Freeform 19" id="19" descr="image.png"/>
            <p:cNvSpPr/>
            <p:nvPr/>
          </p:nvSpPr>
          <p:spPr>
            <a:xfrm flipH="false" flipV="false" rot="0">
              <a:off x="0" y="0"/>
              <a:ext cx="190500" cy="514350"/>
            </a:xfrm>
            <a:custGeom>
              <a:avLst/>
              <a:gdLst/>
              <a:ahLst/>
              <a:cxnLst/>
              <a:rect r="r" b="b" t="t" l="l"/>
              <a:pathLst>
                <a:path h="514350" w="190500">
                  <a:moveTo>
                    <a:pt x="0" y="0"/>
                  </a:moveTo>
                  <a:lnTo>
                    <a:pt x="190500" y="0"/>
                  </a:lnTo>
                  <a:lnTo>
                    <a:pt x="190500" y="514350"/>
                  </a:lnTo>
                  <a:lnTo>
                    <a:pt x="0" y="514350"/>
                  </a:lnTo>
                  <a:lnTo>
                    <a:pt x="0" y="0"/>
                  </a:lnTo>
                  <a:close/>
                </a:path>
              </a:pathLst>
            </a:custGeom>
            <a:blipFill>
              <a:blip r:embed="rId5"/>
              <a:stretch>
                <a:fillRect l="0" t="0" r="0" b="0"/>
              </a:stretch>
            </a:blipFill>
          </p:spPr>
        </p:sp>
      </p:grpSp>
      <p:grpSp>
        <p:nvGrpSpPr>
          <p:cNvPr name="Group 20" id="20"/>
          <p:cNvGrpSpPr/>
          <p:nvPr/>
        </p:nvGrpSpPr>
        <p:grpSpPr>
          <a:xfrm rot="0">
            <a:off x="1314450" y="12111557"/>
            <a:ext cx="142875" cy="385762"/>
            <a:chOff x="0" y="0"/>
            <a:chExt cx="190500" cy="514350"/>
          </a:xfrm>
        </p:grpSpPr>
        <p:sp>
          <p:nvSpPr>
            <p:cNvPr name="Freeform 21" id="21" descr="image.png"/>
            <p:cNvSpPr/>
            <p:nvPr/>
          </p:nvSpPr>
          <p:spPr>
            <a:xfrm flipH="false" flipV="false" rot="0">
              <a:off x="0" y="0"/>
              <a:ext cx="190500" cy="514350"/>
            </a:xfrm>
            <a:custGeom>
              <a:avLst/>
              <a:gdLst/>
              <a:ahLst/>
              <a:cxnLst/>
              <a:rect r="r" b="b" t="t" l="l"/>
              <a:pathLst>
                <a:path h="514350" w="190500">
                  <a:moveTo>
                    <a:pt x="0" y="0"/>
                  </a:moveTo>
                  <a:lnTo>
                    <a:pt x="190500" y="0"/>
                  </a:lnTo>
                  <a:lnTo>
                    <a:pt x="190500" y="514350"/>
                  </a:lnTo>
                  <a:lnTo>
                    <a:pt x="0" y="514350"/>
                  </a:lnTo>
                  <a:lnTo>
                    <a:pt x="0" y="0"/>
                  </a:lnTo>
                  <a:close/>
                </a:path>
              </a:pathLst>
            </a:custGeom>
            <a:blipFill>
              <a:blip r:embed="rId5"/>
              <a:stretch>
                <a:fillRect l="0" t="0" r="0" b="0"/>
              </a:stretch>
            </a:blipFill>
          </p:spPr>
        </p:sp>
      </p:grpSp>
      <p:sp>
        <p:nvSpPr>
          <p:cNvPr name="TextBox 22" id="22"/>
          <p:cNvSpPr txBox="true"/>
          <p:nvPr/>
        </p:nvSpPr>
        <p:spPr>
          <a:xfrm rot="0">
            <a:off x="4353219" y="11106200"/>
            <a:ext cx="4505031" cy="266650"/>
          </a:xfrm>
          <a:prstGeom prst="rect">
            <a:avLst/>
          </a:prstGeom>
        </p:spPr>
        <p:txBody>
          <a:bodyPr anchor="t" rtlCol="false" tIns="0" lIns="0" bIns="0" rIns="0">
            <a:spAutoFit/>
          </a:bodyPr>
          <a:lstStyle/>
          <a:p>
            <a:pPr algn="ctr">
              <a:lnSpc>
                <a:spcPts val="2130"/>
              </a:lnSpc>
              <a:spcBef>
                <a:spcPct val="0"/>
              </a:spcBef>
            </a:pPr>
            <a:r>
              <a:rPr lang="en-US" sz="1775">
                <a:solidFill>
                  <a:srgbClr val="64748B"/>
                </a:solidFill>
                <a:latin typeface="Montserrat"/>
                <a:ea typeface="Montserrat"/>
                <a:cs typeface="Montserrat"/>
                <a:sym typeface="Montserrat"/>
              </a:rPr>
              <a:t>Xgl</a:t>
            </a:r>
            <a:r>
              <a:rPr lang="en-US" sz="1775">
                <a:solidFill>
                  <a:srgbClr val="64748B"/>
                </a:solidFill>
                <a:latin typeface="Montserrat"/>
                <a:ea typeface="Montserrat"/>
                <a:cs typeface="Montserrat"/>
                <a:sym typeface="Montserrat"/>
              </a:rPr>
              <a:t>obal = (Page Index × 256) + Xpage</a:t>
            </a:r>
          </a:p>
        </p:txBody>
      </p:sp>
      <p:grpSp>
        <p:nvGrpSpPr>
          <p:cNvPr name="Group 23" id="23"/>
          <p:cNvGrpSpPr/>
          <p:nvPr/>
        </p:nvGrpSpPr>
        <p:grpSpPr>
          <a:xfrm rot="0">
            <a:off x="9429750" y="8729662"/>
            <a:ext cx="7986712" cy="4457700"/>
            <a:chOff x="0" y="0"/>
            <a:chExt cx="10648950" cy="5943600"/>
          </a:xfrm>
        </p:grpSpPr>
        <p:sp>
          <p:nvSpPr>
            <p:cNvPr name="Freeform 24" id="24" descr="image.png"/>
            <p:cNvSpPr/>
            <p:nvPr/>
          </p:nvSpPr>
          <p:spPr>
            <a:xfrm flipH="false" flipV="false" rot="0">
              <a:off x="0" y="0"/>
              <a:ext cx="10648950" cy="5943600"/>
            </a:xfrm>
            <a:custGeom>
              <a:avLst/>
              <a:gdLst/>
              <a:ahLst/>
              <a:cxnLst/>
              <a:rect r="r" b="b" t="t" l="l"/>
              <a:pathLst>
                <a:path h="5943600" w="10648950">
                  <a:moveTo>
                    <a:pt x="0" y="0"/>
                  </a:moveTo>
                  <a:lnTo>
                    <a:pt x="10648950" y="0"/>
                  </a:lnTo>
                  <a:lnTo>
                    <a:pt x="10648950" y="5943600"/>
                  </a:lnTo>
                  <a:lnTo>
                    <a:pt x="0" y="5943600"/>
                  </a:lnTo>
                  <a:lnTo>
                    <a:pt x="0" y="0"/>
                  </a:lnTo>
                  <a:close/>
                </a:path>
              </a:pathLst>
            </a:custGeom>
            <a:blipFill>
              <a:blip r:embed="rId4"/>
              <a:stretch>
                <a:fillRect l="0" t="0" r="-178" b="0"/>
              </a:stretch>
            </a:blipFill>
          </p:spPr>
        </p:sp>
      </p:grpSp>
      <p:sp>
        <p:nvSpPr>
          <p:cNvPr name="TextBox 25" id="25"/>
          <p:cNvSpPr txBox="true"/>
          <p:nvPr/>
        </p:nvSpPr>
        <p:spPr>
          <a:xfrm rot="0">
            <a:off x="9872662" y="9172575"/>
            <a:ext cx="7455932" cy="385762"/>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16x13 Spatial Quantization Grid</a:t>
            </a:r>
          </a:p>
        </p:txBody>
      </p:sp>
      <p:sp>
        <p:nvSpPr>
          <p:cNvPr name="TextBox 26" id="26"/>
          <p:cNvSpPr txBox="true"/>
          <p:nvPr/>
        </p:nvSpPr>
        <p:spPr>
          <a:xfrm rot="0">
            <a:off x="9872662" y="9586912"/>
            <a:ext cx="7100888" cy="1271588"/>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The raw game environment features are filtered from WRAM registers and downsampled into discrete relative numbers:</a:t>
            </a:r>
          </a:p>
        </p:txBody>
      </p:sp>
      <p:sp>
        <p:nvSpPr>
          <p:cNvPr name="TextBox 27" id="27"/>
          <p:cNvSpPr txBox="true"/>
          <p:nvPr/>
        </p:nvSpPr>
        <p:spPr>
          <a:xfrm rot="0">
            <a:off x="10301287" y="10958512"/>
            <a:ext cx="6672262" cy="50006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Solid Blocks and Barriers: Configured as +1.0</a:t>
            </a:r>
          </a:p>
        </p:txBody>
      </p:sp>
      <p:sp>
        <p:nvSpPr>
          <p:cNvPr name="TextBox 28" id="28"/>
          <p:cNvSpPr txBox="true"/>
          <p:nvPr/>
        </p:nvSpPr>
        <p:spPr>
          <a:xfrm rot="0">
            <a:off x="10301287" y="11515725"/>
            <a:ext cx="6672262" cy="50006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Hostile Dynamic Sprites: Configured as -1.0</a:t>
            </a:r>
          </a:p>
        </p:txBody>
      </p:sp>
      <p:sp>
        <p:nvSpPr>
          <p:cNvPr name="TextBox 29" id="29"/>
          <p:cNvSpPr txBox="true"/>
          <p:nvPr/>
        </p:nvSpPr>
        <p:spPr>
          <a:xfrm rot="0">
            <a:off x="10301287" y="12072938"/>
            <a:ext cx="6672262" cy="50006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Empty Air and Passing Space: Configured as 0.0</a:t>
            </a:r>
          </a:p>
        </p:txBody>
      </p:sp>
      <p:grpSp>
        <p:nvGrpSpPr>
          <p:cNvPr name="Group 30" id="30"/>
          <p:cNvGrpSpPr/>
          <p:nvPr/>
        </p:nvGrpSpPr>
        <p:grpSpPr>
          <a:xfrm rot="0">
            <a:off x="10108632" y="11065669"/>
            <a:ext cx="142875" cy="385762"/>
            <a:chOff x="0" y="0"/>
            <a:chExt cx="190500" cy="514350"/>
          </a:xfrm>
        </p:grpSpPr>
        <p:sp>
          <p:nvSpPr>
            <p:cNvPr name="Freeform 31" id="31" descr="image.png"/>
            <p:cNvSpPr/>
            <p:nvPr/>
          </p:nvSpPr>
          <p:spPr>
            <a:xfrm flipH="false" flipV="false" rot="0">
              <a:off x="0" y="0"/>
              <a:ext cx="190500" cy="514350"/>
            </a:xfrm>
            <a:custGeom>
              <a:avLst/>
              <a:gdLst/>
              <a:ahLst/>
              <a:cxnLst/>
              <a:rect r="r" b="b" t="t" l="l"/>
              <a:pathLst>
                <a:path h="514350" w="190500">
                  <a:moveTo>
                    <a:pt x="0" y="0"/>
                  </a:moveTo>
                  <a:lnTo>
                    <a:pt x="190500" y="0"/>
                  </a:lnTo>
                  <a:lnTo>
                    <a:pt x="190500" y="514350"/>
                  </a:lnTo>
                  <a:lnTo>
                    <a:pt x="0" y="514350"/>
                  </a:lnTo>
                  <a:lnTo>
                    <a:pt x="0" y="0"/>
                  </a:lnTo>
                  <a:close/>
                </a:path>
              </a:pathLst>
            </a:custGeom>
            <a:blipFill>
              <a:blip r:embed="rId5"/>
              <a:stretch>
                <a:fillRect l="0" t="0" r="0" b="0"/>
              </a:stretch>
            </a:blipFill>
          </p:spPr>
        </p:sp>
      </p:grpSp>
      <p:grpSp>
        <p:nvGrpSpPr>
          <p:cNvPr name="Group 32" id="32"/>
          <p:cNvGrpSpPr/>
          <p:nvPr/>
        </p:nvGrpSpPr>
        <p:grpSpPr>
          <a:xfrm rot="0">
            <a:off x="10108632" y="11582919"/>
            <a:ext cx="142875" cy="385762"/>
            <a:chOff x="0" y="0"/>
            <a:chExt cx="190500" cy="514350"/>
          </a:xfrm>
        </p:grpSpPr>
        <p:sp>
          <p:nvSpPr>
            <p:cNvPr name="Freeform 33" id="33" descr="image.png"/>
            <p:cNvSpPr/>
            <p:nvPr/>
          </p:nvSpPr>
          <p:spPr>
            <a:xfrm flipH="false" flipV="false" rot="0">
              <a:off x="0" y="0"/>
              <a:ext cx="190500" cy="514350"/>
            </a:xfrm>
            <a:custGeom>
              <a:avLst/>
              <a:gdLst/>
              <a:ahLst/>
              <a:cxnLst/>
              <a:rect r="r" b="b" t="t" l="l"/>
              <a:pathLst>
                <a:path h="514350" w="190500">
                  <a:moveTo>
                    <a:pt x="0" y="0"/>
                  </a:moveTo>
                  <a:lnTo>
                    <a:pt x="190500" y="0"/>
                  </a:lnTo>
                  <a:lnTo>
                    <a:pt x="190500" y="514350"/>
                  </a:lnTo>
                  <a:lnTo>
                    <a:pt x="0" y="514350"/>
                  </a:lnTo>
                  <a:lnTo>
                    <a:pt x="0" y="0"/>
                  </a:lnTo>
                  <a:close/>
                </a:path>
              </a:pathLst>
            </a:custGeom>
            <a:blipFill>
              <a:blip r:embed="rId5"/>
              <a:stretch>
                <a:fillRect l="0" t="0" r="0" b="0"/>
              </a:stretch>
            </a:blipFill>
          </p:spPr>
        </p:sp>
      </p:grpSp>
      <p:grpSp>
        <p:nvGrpSpPr>
          <p:cNvPr name="Group 34" id="34"/>
          <p:cNvGrpSpPr/>
          <p:nvPr/>
        </p:nvGrpSpPr>
        <p:grpSpPr>
          <a:xfrm rot="0">
            <a:off x="10108632" y="12111557"/>
            <a:ext cx="142875" cy="385762"/>
            <a:chOff x="0" y="0"/>
            <a:chExt cx="190500" cy="514350"/>
          </a:xfrm>
        </p:grpSpPr>
        <p:sp>
          <p:nvSpPr>
            <p:cNvPr name="Freeform 35" id="35" descr="image.png"/>
            <p:cNvSpPr/>
            <p:nvPr/>
          </p:nvSpPr>
          <p:spPr>
            <a:xfrm flipH="false" flipV="false" rot="0">
              <a:off x="0" y="0"/>
              <a:ext cx="190500" cy="514350"/>
            </a:xfrm>
            <a:custGeom>
              <a:avLst/>
              <a:gdLst/>
              <a:ahLst/>
              <a:cxnLst/>
              <a:rect r="r" b="b" t="t" l="l"/>
              <a:pathLst>
                <a:path h="514350" w="190500">
                  <a:moveTo>
                    <a:pt x="0" y="0"/>
                  </a:moveTo>
                  <a:lnTo>
                    <a:pt x="190500" y="0"/>
                  </a:lnTo>
                  <a:lnTo>
                    <a:pt x="190500" y="514350"/>
                  </a:lnTo>
                  <a:lnTo>
                    <a:pt x="0" y="514350"/>
                  </a:lnTo>
                  <a:lnTo>
                    <a:pt x="0" y="0"/>
                  </a:lnTo>
                  <a:close/>
                </a:path>
              </a:pathLst>
            </a:custGeom>
            <a:blipFill>
              <a:blip r:embed="rId5"/>
              <a:stretch>
                <a:fillRect l="0" t="0" r="0" b="0"/>
              </a:stretch>
            </a:blipFill>
          </p:spPr>
        </p:sp>
      </p:grpSp>
      <p:sp>
        <p:nvSpPr>
          <p:cNvPr name="TextBox 36" id="36"/>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37" id="37"/>
          <p:cNvGrpSpPr/>
          <p:nvPr/>
        </p:nvGrpSpPr>
        <p:grpSpPr>
          <a:xfrm rot="0">
            <a:off x="871538" y="7045041"/>
            <a:ext cx="16544925" cy="14288"/>
            <a:chOff x="0" y="0"/>
            <a:chExt cx="22059900" cy="19050"/>
          </a:xfrm>
        </p:grpSpPr>
        <p:sp>
          <p:nvSpPr>
            <p:cNvPr name="Freeform 38" id="3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1538" y="8729662"/>
            <a:ext cx="7986712" cy="4457700"/>
            <a:chOff x="0" y="0"/>
            <a:chExt cx="10648950" cy="5943600"/>
          </a:xfrm>
        </p:grpSpPr>
        <p:sp>
          <p:nvSpPr>
            <p:cNvPr name="Freeform 3" id="3" descr="image.png"/>
            <p:cNvSpPr/>
            <p:nvPr/>
          </p:nvSpPr>
          <p:spPr>
            <a:xfrm flipH="false" flipV="false" rot="0">
              <a:off x="0" y="0"/>
              <a:ext cx="10648950" cy="5943600"/>
            </a:xfrm>
            <a:custGeom>
              <a:avLst/>
              <a:gdLst/>
              <a:ahLst/>
              <a:cxnLst/>
              <a:rect r="r" b="b" t="t" l="l"/>
              <a:pathLst>
                <a:path h="5943600" w="10648950">
                  <a:moveTo>
                    <a:pt x="0" y="0"/>
                  </a:moveTo>
                  <a:lnTo>
                    <a:pt x="10648950" y="0"/>
                  </a:lnTo>
                  <a:lnTo>
                    <a:pt x="10648950" y="5943600"/>
                  </a:lnTo>
                  <a:lnTo>
                    <a:pt x="0" y="5943600"/>
                  </a:lnTo>
                  <a:lnTo>
                    <a:pt x="0" y="0"/>
                  </a:lnTo>
                  <a:close/>
                </a:path>
              </a:pathLst>
            </a:custGeom>
            <a:blipFill>
              <a:blip r:embed="rId3"/>
              <a:stretch>
                <a:fillRect l="0" t="0" r="-178" b="0"/>
              </a:stretch>
            </a:blipFill>
          </p:spPr>
        </p:sp>
      </p:grpSp>
      <p:grpSp>
        <p:nvGrpSpPr>
          <p:cNvPr name="Group 4" id="4"/>
          <p:cNvGrpSpPr/>
          <p:nvPr/>
        </p:nvGrpSpPr>
        <p:grpSpPr>
          <a:xfrm rot="0">
            <a:off x="9429750" y="8729662"/>
            <a:ext cx="7986712" cy="4457700"/>
            <a:chOff x="0" y="0"/>
            <a:chExt cx="10648950" cy="5943600"/>
          </a:xfrm>
        </p:grpSpPr>
        <p:sp>
          <p:nvSpPr>
            <p:cNvPr name="Freeform 5" id="5" descr="image.png"/>
            <p:cNvSpPr/>
            <p:nvPr/>
          </p:nvSpPr>
          <p:spPr>
            <a:xfrm flipH="false" flipV="false" rot="0">
              <a:off x="0" y="0"/>
              <a:ext cx="10648950" cy="5943600"/>
            </a:xfrm>
            <a:custGeom>
              <a:avLst/>
              <a:gdLst/>
              <a:ahLst/>
              <a:cxnLst/>
              <a:rect r="r" b="b" t="t" l="l"/>
              <a:pathLst>
                <a:path h="5943600" w="10648950">
                  <a:moveTo>
                    <a:pt x="0" y="0"/>
                  </a:moveTo>
                  <a:lnTo>
                    <a:pt x="10648950" y="0"/>
                  </a:lnTo>
                  <a:lnTo>
                    <a:pt x="10648950" y="5943600"/>
                  </a:lnTo>
                  <a:lnTo>
                    <a:pt x="0" y="5943600"/>
                  </a:lnTo>
                  <a:lnTo>
                    <a:pt x="0" y="0"/>
                  </a:lnTo>
                  <a:close/>
                </a:path>
              </a:pathLst>
            </a:custGeom>
            <a:blipFill>
              <a:blip r:embed="rId4"/>
              <a:stretch>
                <a:fillRect l="0" t="0" r="-178" b="0"/>
              </a:stretch>
            </a:blipFill>
          </p:spPr>
        </p:sp>
      </p:grpSp>
      <p:grpSp>
        <p:nvGrpSpPr>
          <p:cNvPr name="Group 6" id="6"/>
          <p:cNvGrpSpPr/>
          <p:nvPr/>
        </p:nvGrpSpPr>
        <p:grpSpPr>
          <a:xfrm rot="0">
            <a:off x="9872662" y="11072812"/>
            <a:ext cx="7100888" cy="1020213"/>
            <a:chOff x="0" y="0"/>
            <a:chExt cx="9467850" cy="1360284"/>
          </a:xfrm>
        </p:grpSpPr>
        <p:sp>
          <p:nvSpPr>
            <p:cNvPr name="Freeform 7" id="7" descr="image.png"/>
            <p:cNvSpPr/>
            <p:nvPr/>
          </p:nvSpPr>
          <p:spPr>
            <a:xfrm flipH="false" flipV="false" rot="0">
              <a:off x="0" y="0"/>
              <a:ext cx="9467850" cy="1360297"/>
            </a:xfrm>
            <a:custGeom>
              <a:avLst/>
              <a:gdLst/>
              <a:ahLst/>
              <a:cxnLst/>
              <a:rect r="r" b="b" t="t" l="l"/>
              <a:pathLst>
                <a:path h="1360297" w="9467850">
                  <a:moveTo>
                    <a:pt x="0" y="0"/>
                  </a:moveTo>
                  <a:lnTo>
                    <a:pt x="9467850" y="0"/>
                  </a:lnTo>
                  <a:lnTo>
                    <a:pt x="9467850" y="1360297"/>
                  </a:lnTo>
                  <a:lnTo>
                    <a:pt x="0" y="1360297"/>
                  </a:lnTo>
                  <a:lnTo>
                    <a:pt x="0" y="0"/>
                  </a:lnTo>
                  <a:close/>
                </a:path>
              </a:pathLst>
            </a:custGeom>
            <a:blipFill>
              <a:blip r:embed="rId5"/>
              <a:stretch>
                <a:fillRect l="0" t="0" r="0" b="-225"/>
              </a:stretch>
            </a:blipFill>
          </p:spPr>
        </p:sp>
      </p:grpSp>
      <p:sp>
        <p:nvSpPr>
          <p:cNvPr name="TextBox 8" id="8"/>
          <p:cNvSpPr txBox="true"/>
          <p:nvPr/>
        </p:nvSpPr>
        <p:spPr>
          <a:xfrm rot="0">
            <a:off x="1085850" y="6229350"/>
            <a:ext cx="7630001"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6</a:t>
            </a:r>
            <a:r>
              <a:rPr lang="en-US" sz="3600">
                <a:solidFill>
                  <a:srgbClr val="1E293B"/>
                </a:solidFill>
                <a:latin typeface="Montserrat"/>
                <a:ea typeface="Montserrat"/>
                <a:cs typeface="Montserrat"/>
                <a:sym typeface="Montserrat"/>
              </a:rPr>
              <a:t>. Methodology - Core Mechanics</a:t>
            </a:r>
          </a:p>
        </p:txBody>
      </p:sp>
      <p:grpSp>
        <p:nvGrpSpPr>
          <p:cNvPr name="Group 9" id="9"/>
          <p:cNvGrpSpPr/>
          <p:nvPr/>
        </p:nvGrpSpPr>
        <p:grpSpPr>
          <a:xfrm rot="0">
            <a:off x="871538" y="6229350"/>
            <a:ext cx="71438" cy="557212"/>
            <a:chOff x="0" y="0"/>
            <a:chExt cx="95250" cy="742950"/>
          </a:xfrm>
        </p:grpSpPr>
        <p:sp>
          <p:nvSpPr>
            <p:cNvPr name="Freeform 10" id="10"/>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11" id="11"/>
          <p:cNvGrpSpPr/>
          <p:nvPr/>
        </p:nvGrpSpPr>
        <p:grpSpPr>
          <a:xfrm rot="0">
            <a:off x="11929396" y="11372850"/>
            <a:ext cx="2987202" cy="420138"/>
            <a:chOff x="0" y="0"/>
            <a:chExt cx="3982936" cy="560184"/>
          </a:xfrm>
        </p:grpSpPr>
        <p:sp>
          <p:nvSpPr>
            <p:cNvPr name="Freeform 12" id="12" descr="image.png"/>
            <p:cNvSpPr/>
            <p:nvPr/>
          </p:nvSpPr>
          <p:spPr>
            <a:xfrm flipH="false" flipV="false" rot="0">
              <a:off x="0" y="0"/>
              <a:ext cx="3982974" cy="560197"/>
            </a:xfrm>
            <a:custGeom>
              <a:avLst/>
              <a:gdLst/>
              <a:ahLst/>
              <a:cxnLst/>
              <a:rect r="r" b="b" t="t" l="l"/>
              <a:pathLst>
                <a:path h="560197" w="3982974">
                  <a:moveTo>
                    <a:pt x="0" y="0"/>
                  </a:moveTo>
                  <a:lnTo>
                    <a:pt x="3982974" y="0"/>
                  </a:lnTo>
                  <a:lnTo>
                    <a:pt x="3982974" y="560197"/>
                  </a:lnTo>
                  <a:lnTo>
                    <a:pt x="0" y="560197"/>
                  </a:lnTo>
                  <a:lnTo>
                    <a:pt x="0" y="0"/>
                  </a:lnTo>
                  <a:close/>
                </a:path>
              </a:pathLst>
            </a:custGeom>
            <a:blipFill>
              <a:blip r:embed="rId6"/>
              <a:stretch>
                <a:fillRect l="0" t="0" r="0" b="-1568"/>
              </a:stretch>
            </a:blipFill>
          </p:spPr>
        </p:sp>
      </p:grpSp>
      <p:grpSp>
        <p:nvGrpSpPr>
          <p:cNvPr name="Group 13" id="13"/>
          <p:cNvGrpSpPr/>
          <p:nvPr/>
        </p:nvGrpSpPr>
        <p:grpSpPr>
          <a:xfrm rot="0">
            <a:off x="16370803" y="5696448"/>
            <a:ext cx="1281629" cy="1273842"/>
            <a:chOff x="0" y="0"/>
            <a:chExt cx="3028798" cy="3010395"/>
          </a:xfrm>
        </p:grpSpPr>
        <p:sp>
          <p:nvSpPr>
            <p:cNvPr name="Freeform 14" id="14"/>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7"/>
              <a:stretch>
                <a:fillRect l="0" t="-305" r="0" b="-305"/>
              </a:stretch>
            </a:blipFill>
          </p:spPr>
        </p:sp>
      </p:grpSp>
      <p:grpSp>
        <p:nvGrpSpPr>
          <p:cNvPr name="Group 15" id="15"/>
          <p:cNvGrpSpPr/>
          <p:nvPr/>
        </p:nvGrpSpPr>
        <p:grpSpPr>
          <a:xfrm rot="0">
            <a:off x="1314450" y="11080284"/>
            <a:ext cx="7100888" cy="1020213"/>
            <a:chOff x="0" y="0"/>
            <a:chExt cx="9467850" cy="1360284"/>
          </a:xfrm>
        </p:grpSpPr>
        <p:sp>
          <p:nvSpPr>
            <p:cNvPr name="Freeform 16" id="16" descr="image.png"/>
            <p:cNvSpPr/>
            <p:nvPr/>
          </p:nvSpPr>
          <p:spPr>
            <a:xfrm flipH="false" flipV="false" rot="0">
              <a:off x="0" y="0"/>
              <a:ext cx="9467850" cy="1360297"/>
            </a:xfrm>
            <a:custGeom>
              <a:avLst/>
              <a:gdLst/>
              <a:ahLst/>
              <a:cxnLst/>
              <a:rect r="r" b="b" t="t" l="l"/>
              <a:pathLst>
                <a:path h="1360297" w="9467850">
                  <a:moveTo>
                    <a:pt x="0" y="0"/>
                  </a:moveTo>
                  <a:lnTo>
                    <a:pt x="9467850" y="0"/>
                  </a:lnTo>
                  <a:lnTo>
                    <a:pt x="9467850" y="1360297"/>
                  </a:lnTo>
                  <a:lnTo>
                    <a:pt x="0" y="1360297"/>
                  </a:lnTo>
                  <a:lnTo>
                    <a:pt x="0" y="0"/>
                  </a:lnTo>
                  <a:close/>
                </a:path>
              </a:pathLst>
            </a:custGeom>
            <a:blipFill>
              <a:blip r:embed="rId5"/>
              <a:stretch>
                <a:fillRect l="0" t="0" r="0" b="-225"/>
              </a:stretch>
            </a:blipFill>
          </p:spPr>
        </p:sp>
      </p:grpSp>
      <p:sp>
        <p:nvSpPr>
          <p:cNvPr name="Freeform 17" id="17"/>
          <p:cNvSpPr/>
          <p:nvPr/>
        </p:nvSpPr>
        <p:spPr>
          <a:xfrm flipH="false" flipV="false" rot="0">
            <a:off x="1565872" y="11233580"/>
            <a:ext cx="6496468" cy="773143"/>
          </a:xfrm>
          <a:custGeom>
            <a:avLst/>
            <a:gdLst/>
            <a:ahLst/>
            <a:cxnLst/>
            <a:rect r="r" b="b" t="t" l="l"/>
            <a:pathLst>
              <a:path h="773143" w="6496468">
                <a:moveTo>
                  <a:pt x="0" y="0"/>
                </a:moveTo>
                <a:lnTo>
                  <a:pt x="6496468" y="0"/>
                </a:lnTo>
                <a:lnTo>
                  <a:pt x="6496468" y="773143"/>
                </a:lnTo>
                <a:lnTo>
                  <a:pt x="0" y="773143"/>
                </a:lnTo>
                <a:lnTo>
                  <a:pt x="0" y="0"/>
                </a:lnTo>
                <a:close/>
              </a:path>
            </a:pathLst>
          </a:custGeom>
          <a:blipFill>
            <a:blip r:embed="rId8"/>
            <a:stretch>
              <a:fillRect l="0" t="0" r="-167" b="-2053"/>
            </a:stretch>
          </a:blipFill>
        </p:spPr>
      </p:sp>
      <p:sp>
        <p:nvSpPr>
          <p:cNvPr name="TextBox 18" id="18"/>
          <p:cNvSpPr txBox="true"/>
          <p:nvPr/>
        </p:nvSpPr>
        <p:spPr>
          <a:xfrm rot="0">
            <a:off x="1314450" y="9172575"/>
            <a:ext cx="7018362" cy="371450"/>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Multi-Objective</a:t>
            </a:r>
            <a:r>
              <a:rPr lang="en-US" sz="2475">
                <a:solidFill>
                  <a:srgbClr val="4F46E5"/>
                </a:solidFill>
                <a:latin typeface="Montserrat"/>
                <a:ea typeface="Montserrat"/>
                <a:cs typeface="Montserrat"/>
                <a:sym typeface="Montserrat"/>
              </a:rPr>
              <a:t> Speedrun Fitness Evaluation</a:t>
            </a:r>
          </a:p>
        </p:txBody>
      </p:sp>
      <p:sp>
        <p:nvSpPr>
          <p:cNvPr name="TextBox 19" id="19"/>
          <p:cNvSpPr txBox="true"/>
          <p:nvPr/>
        </p:nvSpPr>
        <p:spPr>
          <a:xfrm rot="0">
            <a:off x="1314450" y="9586912"/>
            <a:ext cx="7100888" cy="1331446"/>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The performance of each network genome is calculated from miltu-objective fitness function F which is calculated as :</a:t>
            </a:r>
          </a:p>
        </p:txBody>
      </p:sp>
      <p:sp>
        <p:nvSpPr>
          <p:cNvPr name="TextBox 20" id="20"/>
          <p:cNvSpPr txBox="true"/>
          <p:nvPr/>
        </p:nvSpPr>
        <p:spPr>
          <a:xfrm rot="0">
            <a:off x="9872662" y="9172575"/>
            <a:ext cx="7455932" cy="385762"/>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Speciation Distance Compatibility</a:t>
            </a:r>
          </a:p>
        </p:txBody>
      </p:sp>
      <p:sp>
        <p:nvSpPr>
          <p:cNvPr name="TextBox 21" id="21"/>
          <p:cNvSpPr txBox="true"/>
          <p:nvPr/>
        </p:nvSpPr>
        <p:spPr>
          <a:xfrm rot="0">
            <a:off x="9872662" y="9586912"/>
            <a:ext cx="7100888" cy="1271588"/>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Networks are categorized dynamically into distinct species to avoid competition between unmatched topologies:</a:t>
            </a:r>
          </a:p>
        </p:txBody>
      </p:sp>
      <p:sp>
        <p:nvSpPr>
          <p:cNvPr name="TextBox 22" id="22"/>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23" id="23"/>
          <p:cNvGrpSpPr/>
          <p:nvPr/>
        </p:nvGrpSpPr>
        <p:grpSpPr>
          <a:xfrm rot="0">
            <a:off x="871538" y="7045041"/>
            <a:ext cx="16544925" cy="14288"/>
            <a:chOff x="0" y="0"/>
            <a:chExt cx="22059900" cy="19050"/>
          </a:xfrm>
        </p:grpSpPr>
        <p:sp>
          <p:nvSpPr>
            <p:cNvPr name="Freeform 24" id="24"/>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85850" y="6229350"/>
            <a:ext cx="8058944"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6</a:t>
            </a:r>
            <a:r>
              <a:rPr lang="en-US" sz="3600">
                <a:solidFill>
                  <a:srgbClr val="1E293B"/>
                </a:solidFill>
                <a:latin typeface="Montserrat"/>
                <a:ea typeface="Montserrat"/>
                <a:cs typeface="Montserrat"/>
                <a:sym typeface="Montserrat"/>
              </a:rPr>
              <a:t>. Methodology - Memory Interface</a:t>
            </a:r>
          </a:p>
        </p:txBody>
      </p:sp>
      <p:grpSp>
        <p:nvGrpSpPr>
          <p:cNvPr name="Group 5" id="5"/>
          <p:cNvGrpSpPr/>
          <p:nvPr/>
        </p:nvGrpSpPr>
        <p:grpSpPr>
          <a:xfrm rot="0">
            <a:off x="871538" y="6229350"/>
            <a:ext cx="71438" cy="557212"/>
            <a:chOff x="0" y="0"/>
            <a:chExt cx="95250" cy="742950"/>
          </a:xfrm>
        </p:grpSpPr>
        <p:sp>
          <p:nvSpPr>
            <p:cNvPr name="Freeform 6" id="6"/>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7" id="7"/>
          <p:cNvGrpSpPr/>
          <p:nvPr/>
        </p:nvGrpSpPr>
        <p:grpSpPr>
          <a:xfrm rot="0">
            <a:off x="16370803" y="5696448"/>
            <a:ext cx="1281629" cy="1273842"/>
            <a:chOff x="0" y="0"/>
            <a:chExt cx="3028798" cy="3010395"/>
          </a:xfrm>
        </p:grpSpPr>
        <p:sp>
          <p:nvSpPr>
            <p:cNvPr name="Freeform 8" id="8"/>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4"/>
              <a:stretch>
                <a:fillRect l="0" t="-305" r="0" b="-305"/>
              </a:stretch>
            </a:blipFill>
          </p:spPr>
        </p:sp>
      </p:grpSp>
      <p:sp>
        <p:nvSpPr>
          <p:cNvPr name="Freeform 9" id="9"/>
          <p:cNvSpPr/>
          <p:nvPr/>
        </p:nvSpPr>
        <p:spPr>
          <a:xfrm flipH="false" flipV="false" rot="0">
            <a:off x="1085850" y="9564855"/>
            <a:ext cx="248182" cy="232388"/>
          </a:xfrm>
          <a:custGeom>
            <a:avLst/>
            <a:gdLst/>
            <a:ahLst/>
            <a:cxnLst/>
            <a:rect r="r" b="b" t="t" l="l"/>
            <a:pathLst>
              <a:path h="232388" w="248182">
                <a:moveTo>
                  <a:pt x="0" y="0"/>
                </a:moveTo>
                <a:lnTo>
                  <a:pt x="248182" y="0"/>
                </a:lnTo>
                <a:lnTo>
                  <a:pt x="248182" y="232388"/>
                </a:lnTo>
                <a:lnTo>
                  <a:pt x="0" y="2323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085850" y="8772059"/>
            <a:ext cx="8386048" cy="385762"/>
          </a:xfrm>
          <a:prstGeom prst="rect">
            <a:avLst/>
          </a:prstGeom>
        </p:spPr>
        <p:txBody>
          <a:bodyPr anchor="t" rtlCol="false" tIns="0" lIns="0" bIns="0" rIns="0">
            <a:spAutoFit/>
          </a:bodyPr>
          <a:lstStyle/>
          <a:p>
            <a:pPr algn="l">
              <a:lnSpc>
                <a:spcPts val="2970"/>
              </a:lnSpc>
            </a:pPr>
            <a:r>
              <a:rPr lang="en-US" sz="2475">
                <a:solidFill>
                  <a:srgbClr val="4F46E5"/>
                </a:solidFill>
                <a:latin typeface="Montserrat"/>
                <a:ea typeface="Montserrat"/>
                <a:cs typeface="Montserrat"/>
                <a:sym typeface="Montserrat"/>
              </a:rPr>
              <a:t>Zero-Latency Memory Interface</a:t>
            </a:r>
          </a:p>
        </p:txBody>
      </p:sp>
      <p:sp>
        <p:nvSpPr>
          <p:cNvPr name="TextBox 11" id="11"/>
          <p:cNvSpPr txBox="true"/>
          <p:nvPr/>
        </p:nvSpPr>
        <p:spPr>
          <a:xfrm rot="0">
            <a:off x="1514475" y="9393566"/>
            <a:ext cx="14856328" cy="874296"/>
          </a:xfrm>
          <a:prstGeom prst="rect">
            <a:avLst/>
          </a:prstGeom>
        </p:spPr>
        <p:txBody>
          <a:bodyPr anchor="t" rtlCol="false" tIns="0" lIns="0" bIns="0" rIns="0">
            <a:spAutoFit/>
          </a:bodyPr>
          <a:lstStyle/>
          <a:p>
            <a:pPr algn="l">
              <a:lnSpc>
                <a:spcPts val="3645"/>
              </a:lnSpc>
            </a:pPr>
            <a:r>
              <a:rPr lang="en-US" b="true" sz="2025">
                <a:solidFill>
                  <a:srgbClr val="4F46E5"/>
                </a:solidFill>
                <a:latin typeface="Montserrat Bold"/>
                <a:ea typeface="Montserrat Bold"/>
                <a:cs typeface="Montserrat Bold"/>
                <a:sym typeface="Montserrat Bold"/>
              </a:rPr>
              <a:t>Direct WRAM Hook:</a:t>
            </a:r>
            <a:r>
              <a:rPr lang="en-US" b="true" sz="2025">
                <a:solidFill>
                  <a:srgbClr val="475569"/>
                </a:solidFill>
                <a:latin typeface="Montserrat Bold"/>
                <a:ea typeface="Montserrat Bold"/>
                <a:cs typeface="Montserrat Bold"/>
                <a:sym typeface="Montserrat Bold"/>
              </a:rPr>
              <a:t> </a:t>
            </a:r>
            <a:r>
              <a:rPr lang="en-US" sz="2025">
                <a:solidFill>
                  <a:srgbClr val="475569"/>
                </a:solidFill>
                <a:latin typeface="Montserrat"/>
                <a:ea typeface="Montserrat"/>
                <a:cs typeface="Montserrat"/>
                <a:sym typeface="Montserrat"/>
              </a:rPr>
              <a:t>Polls the internal 2 KB emulator addressing memory blocks (0x0000 to 0x07FF) at a frame rate of 60 Hz to avoid visual processing delay.</a:t>
            </a:r>
          </a:p>
        </p:txBody>
      </p:sp>
      <p:sp>
        <p:nvSpPr>
          <p:cNvPr name="TextBox 12" id="12"/>
          <p:cNvSpPr txBox="true"/>
          <p:nvPr/>
        </p:nvSpPr>
        <p:spPr>
          <a:xfrm rot="0">
            <a:off x="1514475" y="10505986"/>
            <a:ext cx="14378829" cy="417145"/>
          </a:xfrm>
          <a:prstGeom prst="rect">
            <a:avLst/>
          </a:prstGeom>
        </p:spPr>
        <p:txBody>
          <a:bodyPr anchor="t" rtlCol="false" tIns="0" lIns="0" bIns="0" rIns="0">
            <a:spAutoFit/>
          </a:bodyPr>
          <a:lstStyle/>
          <a:p>
            <a:pPr algn="l">
              <a:lnSpc>
                <a:spcPts val="3645"/>
              </a:lnSpc>
            </a:pPr>
            <a:r>
              <a:rPr lang="en-US" b="true" sz="2025">
                <a:solidFill>
                  <a:srgbClr val="4F46E5"/>
                </a:solidFill>
                <a:latin typeface="Montserrat Bold"/>
                <a:ea typeface="Montserrat Bold"/>
                <a:cs typeface="Montserrat Bold"/>
                <a:sym typeface="Montserrat Bold"/>
              </a:rPr>
              <a:t>Position Parsing:</a:t>
            </a:r>
            <a:r>
              <a:rPr lang="en-US" sz="2025">
                <a:solidFill>
                  <a:srgbClr val="4F46E5"/>
                </a:solidFill>
                <a:latin typeface="Montserrat"/>
                <a:ea typeface="Montserrat"/>
                <a:cs typeface="Montserrat"/>
                <a:sym typeface="Montserrat"/>
              </a:rPr>
              <a:t> </a:t>
            </a:r>
            <a:r>
              <a:rPr lang="en-US" sz="2025">
                <a:solidFill>
                  <a:srgbClr val="475569"/>
                </a:solidFill>
                <a:latin typeface="Montserrat"/>
                <a:ea typeface="Montserrat"/>
                <a:cs typeface="Montserrat"/>
                <a:sym typeface="Montserrat"/>
              </a:rPr>
              <a:t>Track exact player horizontal coordinates using addresses 0x0086 and 0x006D in real time.</a:t>
            </a:r>
          </a:p>
        </p:txBody>
      </p:sp>
      <p:sp>
        <p:nvSpPr>
          <p:cNvPr name="TextBox 13" id="13"/>
          <p:cNvSpPr txBox="true"/>
          <p:nvPr/>
        </p:nvSpPr>
        <p:spPr>
          <a:xfrm rot="0">
            <a:off x="1514475" y="11342232"/>
            <a:ext cx="14378829" cy="874296"/>
          </a:xfrm>
          <a:prstGeom prst="rect">
            <a:avLst/>
          </a:prstGeom>
        </p:spPr>
        <p:txBody>
          <a:bodyPr anchor="t" rtlCol="false" tIns="0" lIns="0" bIns="0" rIns="0">
            <a:spAutoFit/>
          </a:bodyPr>
          <a:lstStyle/>
          <a:p>
            <a:pPr algn="l">
              <a:lnSpc>
                <a:spcPts val="3645"/>
              </a:lnSpc>
            </a:pPr>
            <a:r>
              <a:rPr lang="en-US" b="true" sz="2025">
                <a:solidFill>
                  <a:srgbClr val="4F46E5"/>
                </a:solidFill>
                <a:latin typeface="Montserrat Bold"/>
                <a:ea typeface="Montserrat Bold"/>
                <a:cs typeface="Montserrat Bold"/>
                <a:sym typeface="Montserrat Bold"/>
              </a:rPr>
              <a:t>Controller Interface:</a:t>
            </a:r>
            <a:r>
              <a:rPr lang="en-US" sz="2025">
                <a:solidFill>
                  <a:srgbClr val="475569"/>
                </a:solidFill>
                <a:latin typeface="Montserrat"/>
                <a:ea typeface="Montserrat"/>
                <a:cs typeface="Montserrat"/>
                <a:sym typeface="Montserrat"/>
              </a:rPr>
              <a:t> Convert feedforward neural node threshold outputs directly into corresponding physical buttons (Jump, Run, Left, Right).</a:t>
            </a:r>
          </a:p>
        </p:txBody>
      </p:sp>
      <p:sp>
        <p:nvSpPr>
          <p:cNvPr name="Freeform 14" id="14"/>
          <p:cNvSpPr/>
          <p:nvPr/>
        </p:nvSpPr>
        <p:spPr>
          <a:xfrm flipH="false" flipV="false" rot="0">
            <a:off x="1085850" y="10620286"/>
            <a:ext cx="248182" cy="232388"/>
          </a:xfrm>
          <a:custGeom>
            <a:avLst/>
            <a:gdLst/>
            <a:ahLst/>
            <a:cxnLst/>
            <a:rect r="r" b="b" t="t" l="l"/>
            <a:pathLst>
              <a:path h="232388" w="248182">
                <a:moveTo>
                  <a:pt x="0" y="0"/>
                </a:moveTo>
                <a:lnTo>
                  <a:pt x="248182" y="0"/>
                </a:lnTo>
                <a:lnTo>
                  <a:pt x="248182" y="232389"/>
                </a:lnTo>
                <a:lnTo>
                  <a:pt x="0" y="2323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085850" y="11485026"/>
            <a:ext cx="248182" cy="232388"/>
          </a:xfrm>
          <a:custGeom>
            <a:avLst/>
            <a:gdLst/>
            <a:ahLst/>
            <a:cxnLst/>
            <a:rect r="r" b="b" t="t" l="l"/>
            <a:pathLst>
              <a:path h="232388" w="248182">
                <a:moveTo>
                  <a:pt x="0" y="0"/>
                </a:moveTo>
                <a:lnTo>
                  <a:pt x="248182" y="0"/>
                </a:lnTo>
                <a:lnTo>
                  <a:pt x="248182" y="232389"/>
                </a:lnTo>
                <a:lnTo>
                  <a:pt x="0" y="2323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17" id="17"/>
          <p:cNvGrpSpPr/>
          <p:nvPr/>
        </p:nvGrpSpPr>
        <p:grpSpPr>
          <a:xfrm rot="0">
            <a:off x="871538" y="7045041"/>
            <a:ext cx="16544925" cy="14288"/>
            <a:chOff x="0" y="0"/>
            <a:chExt cx="22059900" cy="19050"/>
          </a:xfrm>
        </p:grpSpPr>
        <p:sp>
          <p:nvSpPr>
            <p:cNvPr name="Freeform 18" id="1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77585" y="1284313"/>
            <a:ext cx="8664575" cy="542925"/>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6</a:t>
            </a:r>
            <a:r>
              <a:rPr lang="en-US" sz="3600">
                <a:solidFill>
                  <a:srgbClr val="1E293B"/>
                </a:solidFill>
                <a:latin typeface="Montserrat"/>
                <a:ea typeface="Montserrat"/>
                <a:cs typeface="Montserrat"/>
                <a:sym typeface="Montserrat"/>
              </a:rPr>
              <a:t>. Methodology - System Architecture</a:t>
            </a:r>
          </a:p>
        </p:txBody>
      </p:sp>
      <p:grpSp>
        <p:nvGrpSpPr>
          <p:cNvPr name="Group 3" id="3"/>
          <p:cNvGrpSpPr/>
          <p:nvPr/>
        </p:nvGrpSpPr>
        <p:grpSpPr>
          <a:xfrm rot="0">
            <a:off x="463272" y="1284313"/>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463272" y="848544"/>
            <a:ext cx="16544925" cy="14288"/>
            <a:chOff x="0" y="0"/>
            <a:chExt cx="22059900" cy="19050"/>
          </a:xfrm>
        </p:grpSpPr>
        <p:sp>
          <p:nvSpPr>
            <p:cNvPr name="Freeform 6" id="6"/>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grpSp>
        <p:nvGrpSpPr>
          <p:cNvPr name="Group 7" id="7"/>
          <p:cNvGrpSpPr/>
          <p:nvPr/>
        </p:nvGrpSpPr>
        <p:grpSpPr>
          <a:xfrm rot="0">
            <a:off x="15962538" y="751411"/>
            <a:ext cx="1281629" cy="1273842"/>
            <a:chOff x="0" y="0"/>
            <a:chExt cx="3028798" cy="3010395"/>
          </a:xfrm>
        </p:grpSpPr>
        <p:sp>
          <p:nvSpPr>
            <p:cNvPr name="Freeform 8" id="8"/>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sp>
        <p:nvSpPr>
          <p:cNvPr name="Freeform 9" id="9"/>
          <p:cNvSpPr/>
          <p:nvPr/>
        </p:nvSpPr>
        <p:spPr>
          <a:xfrm flipH="false" flipV="false" rot="0">
            <a:off x="2240630" y="2266711"/>
            <a:ext cx="13806740" cy="17394319"/>
          </a:xfrm>
          <a:custGeom>
            <a:avLst/>
            <a:gdLst/>
            <a:ahLst/>
            <a:cxnLst/>
            <a:rect r="r" b="b" t="t" l="l"/>
            <a:pathLst>
              <a:path h="17394319" w="13806740">
                <a:moveTo>
                  <a:pt x="0" y="0"/>
                </a:moveTo>
                <a:lnTo>
                  <a:pt x="13806740" y="0"/>
                </a:lnTo>
                <a:lnTo>
                  <a:pt x="13806740" y="17394319"/>
                </a:lnTo>
                <a:lnTo>
                  <a:pt x="0" y="17394319"/>
                </a:lnTo>
                <a:lnTo>
                  <a:pt x="0" y="0"/>
                </a:lnTo>
                <a:close/>
              </a:path>
            </a:pathLst>
          </a:custGeom>
          <a:blipFill>
            <a:blip r:embed="rId4"/>
            <a:stretch>
              <a:fillRect l="0" t="0" r="0" b="0"/>
            </a:stretch>
          </a:blipFill>
        </p:spPr>
      </p:sp>
      <p:sp>
        <p:nvSpPr>
          <p:cNvPr name="TextBox 10" id="10"/>
          <p:cNvSpPr txBox="true"/>
          <p:nvPr/>
        </p:nvSpPr>
        <p:spPr>
          <a:xfrm rot="0">
            <a:off x="1828800" y="19765805"/>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71538" y="6243638"/>
            <a:ext cx="5525219"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Results</a:t>
            </a:r>
          </a:p>
        </p:txBody>
      </p:sp>
      <p:grpSp>
        <p:nvGrpSpPr>
          <p:cNvPr name="Group 3" id="3"/>
          <p:cNvGrpSpPr/>
          <p:nvPr/>
        </p:nvGrpSpPr>
        <p:grpSpPr>
          <a:xfrm rot="0">
            <a:off x="871538" y="6229350"/>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16370803" y="5696448"/>
            <a:ext cx="1281629" cy="1273842"/>
            <a:chOff x="0" y="0"/>
            <a:chExt cx="3028798" cy="3010395"/>
          </a:xfrm>
        </p:grpSpPr>
        <p:sp>
          <p:nvSpPr>
            <p:cNvPr name="Freeform 6" id="6"/>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grpSp>
        <p:nvGrpSpPr>
          <p:cNvPr name="Group 7" id="7"/>
          <p:cNvGrpSpPr/>
          <p:nvPr/>
        </p:nvGrpSpPr>
        <p:grpSpPr>
          <a:xfrm rot="0">
            <a:off x="871538" y="7045041"/>
            <a:ext cx="16544925" cy="14288"/>
            <a:chOff x="0" y="0"/>
            <a:chExt cx="22059900" cy="19050"/>
          </a:xfrm>
        </p:grpSpPr>
        <p:sp>
          <p:nvSpPr>
            <p:cNvPr name="Freeform 8" id="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
        <p:nvSpPr>
          <p:cNvPr name="Freeform 9" id="9"/>
          <p:cNvSpPr/>
          <p:nvPr/>
        </p:nvSpPr>
        <p:spPr>
          <a:xfrm flipH="false" flipV="false" rot="0">
            <a:off x="1028700" y="8078318"/>
            <a:ext cx="16230600" cy="5349441"/>
          </a:xfrm>
          <a:custGeom>
            <a:avLst/>
            <a:gdLst/>
            <a:ahLst/>
            <a:cxnLst/>
            <a:rect r="r" b="b" t="t" l="l"/>
            <a:pathLst>
              <a:path h="5349441" w="16230600">
                <a:moveTo>
                  <a:pt x="0" y="0"/>
                </a:moveTo>
                <a:lnTo>
                  <a:pt x="16230600" y="0"/>
                </a:lnTo>
                <a:lnTo>
                  <a:pt x="16230600" y="5349441"/>
                </a:lnTo>
                <a:lnTo>
                  <a:pt x="0" y="5349441"/>
                </a:lnTo>
                <a:lnTo>
                  <a:pt x="0" y="0"/>
                </a:lnTo>
                <a:close/>
              </a:path>
            </a:pathLst>
          </a:custGeom>
          <a:blipFill>
            <a:blip r:embed="rId4"/>
            <a:stretch>
              <a:fillRect l="0" t="0" r="0" b="0"/>
            </a:stretch>
          </a:blipFill>
        </p:spPr>
      </p:sp>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71538" y="6243638"/>
            <a:ext cx="5525219"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Results</a:t>
            </a:r>
          </a:p>
        </p:txBody>
      </p:sp>
      <p:grpSp>
        <p:nvGrpSpPr>
          <p:cNvPr name="Group 3" id="3"/>
          <p:cNvGrpSpPr/>
          <p:nvPr/>
        </p:nvGrpSpPr>
        <p:grpSpPr>
          <a:xfrm rot="0">
            <a:off x="871538" y="6229350"/>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16370803" y="5696448"/>
            <a:ext cx="1281629" cy="1273842"/>
            <a:chOff x="0" y="0"/>
            <a:chExt cx="3028798" cy="3010395"/>
          </a:xfrm>
        </p:grpSpPr>
        <p:sp>
          <p:nvSpPr>
            <p:cNvPr name="Freeform 6" id="6"/>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grpSp>
        <p:nvGrpSpPr>
          <p:cNvPr name="Group 7" id="7"/>
          <p:cNvGrpSpPr/>
          <p:nvPr/>
        </p:nvGrpSpPr>
        <p:grpSpPr>
          <a:xfrm rot="0">
            <a:off x="871538" y="7045041"/>
            <a:ext cx="16544925" cy="14288"/>
            <a:chOff x="0" y="0"/>
            <a:chExt cx="22059900" cy="19050"/>
          </a:xfrm>
        </p:grpSpPr>
        <p:sp>
          <p:nvSpPr>
            <p:cNvPr name="Freeform 8" id="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
        <p:nvSpPr>
          <p:cNvPr name="Freeform 9" id="9"/>
          <p:cNvSpPr/>
          <p:nvPr/>
        </p:nvSpPr>
        <p:spPr>
          <a:xfrm flipH="false" flipV="false" rot="0">
            <a:off x="1028700" y="8678615"/>
            <a:ext cx="16230600" cy="3216769"/>
          </a:xfrm>
          <a:custGeom>
            <a:avLst/>
            <a:gdLst/>
            <a:ahLst/>
            <a:cxnLst/>
            <a:rect r="r" b="b" t="t" l="l"/>
            <a:pathLst>
              <a:path h="3216769" w="16230600">
                <a:moveTo>
                  <a:pt x="0" y="0"/>
                </a:moveTo>
                <a:lnTo>
                  <a:pt x="16230600" y="0"/>
                </a:lnTo>
                <a:lnTo>
                  <a:pt x="16230600" y="3216770"/>
                </a:lnTo>
                <a:lnTo>
                  <a:pt x="0" y="3216770"/>
                </a:lnTo>
                <a:lnTo>
                  <a:pt x="0" y="0"/>
                </a:lnTo>
                <a:close/>
              </a:path>
            </a:pathLst>
          </a:custGeom>
          <a:blipFill>
            <a:blip r:embed="rId4"/>
            <a:stretch>
              <a:fillRect l="0" t="-2106" r="0" b="-2106"/>
            </a:stretch>
          </a:blipFill>
        </p:spPr>
      </p:sp>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71538" y="6243638"/>
            <a:ext cx="5525219"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Results</a:t>
            </a:r>
          </a:p>
        </p:txBody>
      </p:sp>
      <p:grpSp>
        <p:nvGrpSpPr>
          <p:cNvPr name="Group 3" id="3"/>
          <p:cNvGrpSpPr/>
          <p:nvPr/>
        </p:nvGrpSpPr>
        <p:grpSpPr>
          <a:xfrm rot="0">
            <a:off x="871538" y="6229350"/>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16370803" y="5696448"/>
            <a:ext cx="1281629" cy="1273842"/>
            <a:chOff x="0" y="0"/>
            <a:chExt cx="3028798" cy="3010395"/>
          </a:xfrm>
        </p:grpSpPr>
        <p:sp>
          <p:nvSpPr>
            <p:cNvPr name="Freeform 6" id="6"/>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grpSp>
        <p:nvGrpSpPr>
          <p:cNvPr name="Group 7" id="7"/>
          <p:cNvGrpSpPr/>
          <p:nvPr/>
        </p:nvGrpSpPr>
        <p:grpSpPr>
          <a:xfrm rot="0">
            <a:off x="871538" y="7045041"/>
            <a:ext cx="16544925" cy="14288"/>
            <a:chOff x="0" y="0"/>
            <a:chExt cx="22059900" cy="19050"/>
          </a:xfrm>
        </p:grpSpPr>
        <p:sp>
          <p:nvSpPr>
            <p:cNvPr name="Freeform 8" id="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
        <p:nvSpPr>
          <p:cNvPr name="Freeform 9" id="9"/>
          <p:cNvSpPr/>
          <p:nvPr/>
        </p:nvSpPr>
        <p:spPr>
          <a:xfrm flipH="false" flipV="false" rot="0">
            <a:off x="1028700" y="7316504"/>
            <a:ext cx="13410937" cy="7085296"/>
          </a:xfrm>
          <a:custGeom>
            <a:avLst/>
            <a:gdLst/>
            <a:ahLst/>
            <a:cxnLst/>
            <a:rect r="r" b="b" t="t" l="l"/>
            <a:pathLst>
              <a:path h="7085296" w="13410937">
                <a:moveTo>
                  <a:pt x="0" y="0"/>
                </a:moveTo>
                <a:lnTo>
                  <a:pt x="13410937" y="0"/>
                </a:lnTo>
                <a:lnTo>
                  <a:pt x="13410937" y="7085296"/>
                </a:lnTo>
                <a:lnTo>
                  <a:pt x="0" y="7085296"/>
                </a:lnTo>
                <a:lnTo>
                  <a:pt x="0" y="0"/>
                </a:lnTo>
                <a:close/>
              </a:path>
            </a:pathLst>
          </a:custGeom>
          <a:blipFill>
            <a:blip r:embed="rId4"/>
            <a:stretch>
              <a:fillRect l="0" t="-6099" r="0" b="-40161"/>
            </a:stretch>
          </a:blipFill>
        </p:spPr>
      </p:sp>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71538" y="6243638"/>
            <a:ext cx="5525219"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Project Timeline</a:t>
            </a:r>
          </a:p>
        </p:txBody>
      </p:sp>
      <p:grpSp>
        <p:nvGrpSpPr>
          <p:cNvPr name="Group 3" id="3"/>
          <p:cNvGrpSpPr/>
          <p:nvPr/>
        </p:nvGrpSpPr>
        <p:grpSpPr>
          <a:xfrm rot="0">
            <a:off x="871538" y="6229350"/>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16370803" y="5696448"/>
            <a:ext cx="1281629" cy="1273842"/>
            <a:chOff x="0" y="0"/>
            <a:chExt cx="3028798" cy="3010395"/>
          </a:xfrm>
        </p:grpSpPr>
        <p:sp>
          <p:nvSpPr>
            <p:cNvPr name="Freeform 6" id="6"/>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grpSp>
        <p:nvGrpSpPr>
          <p:cNvPr name="Group 7" id="7"/>
          <p:cNvGrpSpPr/>
          <p:nvPr/>
        </p:nvGrpSpPr>
        <p:grpSpPr>
          <a:xfrm rot="0">
            <a:off x="871538" y="7045041"/>
            <a:ext cx="16544925" cy="14288"/>
            <a:chOff x="0" y="0"/>
            <a:chExt cx="22059900" cy="19050"/>
          </a:xfrm>
        </p:grpSpPr>
        <p:sp>
          <p:nvSpPr>
            <p:cNvPr name="Freeform 8" id="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
        <p:nvSpPr>
          <p:cNvPr name="Freeform 9" id="9"/>
          <p:cNvSpPr/>
          <p:nvPr/>
        </p:nvSpPr>
        <p:spPr>
          <a:xfrm flipH="false" flipV="false" rot="0">
            <a:off x="2653689" y="7187916"/>
            <a:ext cx="12980622" cy="7403011"/>
          </a:xfrm>
          <a:custGeom>
            <a:avLst/>
            <a:gdLst/>
            <a:ahLst/>
            <a:cxnLst/>
            <a:rect r="r" b="b" t="t" l="l"/>
            <a:pathLst>
              <a:path h="7403011" w="12980622">
                <a:moveTo>
                  <a:pt x="0" y="0"/>
                </a:moveTo>
                <a:lnTo>
                  <a:pt x="12980622" y="0"/>
                </a:lnTo>
                <a:lnTo>
                  <a:pt x="12980622" y="7403011"/>
                </a:lnTo>
                <a:lnTo>
                  <a:pt x="0" y="7403011"/>
                </a:lnTo>
                <a:lnTo>
                  <a:pt x="0" y="0"/>
                </a:lnTo>
                <a:close/>
              </a:path>
            </a:pathLst>
          </a:custGeom>
          <a:blipFill>
            <a:blip r:embed="rId4"/>
            <a:stretch>
              <a:fillRect l="0" t="0" r="0" b="0"/>
            </a:stretch>
          </a:blipFill>
        </p:spPr>
      </p:sp>
      <p:sp>
        <p:nvSpPr>
          <p:cNvPr name="TextBox 10" id="10"/>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71538" y="6243638"/>
            <a:ext cx="5525219"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Work Remaining</a:t>
            </a:r>
          </a:p>
        </p:txBody>
      </p:sp>
      <p:grpSp>
        <p:nvGrpSpPr>
          <p:cNvPr name="Group 3" id="3"/>
          <p:cNvGrpSpPr/>
          <p:nvPr/>
        </p:nvGrpSpPr>
        <p:grpSpPr>
          <a:xfrm rot="0">
            <a:off x="871538" y="6229350"/>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16370803" y="5696448"/>
            <a:ext cx="1281629" cy="1273842"/>
            <a:chOff x="0" y="0"/>
            <a:chExt cx="3028798" cy="3010395"/>
          </a:xfrm>
        </p:grpSpPr>
        <p:sp>
          <p:nvSpPr>
            <p:cNvPr name="Freeform 6" id="6"/>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pic>
        <p:nvPicPr>
          <p:cNvPr name="Picture 7" id="7"/>
          <p:cNvPicPr>
            <a:picLocks noChangeAspect="true"/>
          </p:cNvPicPr>
          <p:nvPr/>
        </p:nvPicPr>
        <p:blipFill>
          <a:blip r:embed="rId4"/>
          <a:srcRect l="0" t="0" r="0" b="0"/>
          <a:stretch>
            <a:fillRect/>
          </a:stretch>
        </p:blipFill>
        <p:spPr>
          <a:xfrm flipH="false" flipV="false" rot="0">
            <a:off x="1028700" y="13447769"/>
            <a:ext cx="644894" cy="1289787"/>
          </a:xfrm>
          <a:prstGeom prst="rect">
            <a:avLst/>
          </a:prstGeom>
        </p:spPr>
      </p:pic>
      <p:pic>
        <p:nvPicPr>
          <p:cNvPr name="Picture 8" id="8"/>
          <p:cNvPicPr>
            <a:picLocks noChangeAspect="true"/>
          </p:cNvPicPr>
          <p:nvPr/>
        </p:nvPicPr>
        <p:blipFill>
          <a:blip r:embed="rId5"/>
          <a:srcRect l="0" t="0" r="0" b="0"/>
          <a:stretch>
            <a:fillRect/>
          </a:stretch>
        </p:blipFill>
        <p:spPr>
          <a:xfrm flipH="false" flipV="false" rot="0">
            <a:off x="16820640" y="14033131"/>
            <a:ext cx="491558" cy="737337"/>
          </a:xfrm>
          <a:prstGeom prst="rect">
            <a:avLst/>
          </a:prstGeom>
        </p:spPr>
      </p:pic>
      <p:sp>
        <p:nvSpPr>
          <p:cNvPr name="TextBox 9" id="9"/>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10" id="10"/>
          <p:cNvGrpSpPr/>
          <p:nvPr/>
        </p:nvGrpSpPr>
        <p:grpSpPr>
          <a:xfrm rot="0">
            <a:off x="871538" y="7045041"/>
            <a:ext cx="16544925" cy="14288"/>
            <a:chOff x="0" y="0"/>
            <a:chExt cx="22059900" cy="19050"/>
          </a:xfrm>
        </p:grpSpPr>
        <p:sp>
          <p:nvSpPr>
            <p:cNvPr name="Freeform 11" id="11"/>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
        <p:nvSpPr>
          <p:cNvPr name="TextBox 12" id="12"/>
          <p:cNvSpPr txBox="true"/>
          <p:nvPr/>
        </p:nvSpPr>
        <p:spPr>
          <a:xfrm rot="0">
            <a:off x="1028700" y="7779251"/>
            <a:ext cx="16230600" cy="4674931"/>
          </a:xfrm>
          <a:prstGeom prst="rect">
            <a:avLst/>
          </a:prstGeom>
        </p:spPr>
        <p:txBody>
          <a:bodyPr anchor="t" rtlCol="false" tIns="0" lIns="0" bIns="0" rIns="0">
            <a:spAutoFit/>
          </a:bodyPr>
          <a:lstStyle/>
          <a:p>
            <a:pPr algn="l" marL="451343" indent="-225672" lvl="1">
              <a:lnSpc>
                <a:spcPts val="3762"/>
              </a:lnSpc>
              <a:buAutoNum type="arabicPeriod" startAt="1"/>
            </a:pPr>
            <a:r>
              <a:rPr lang="en-US" sz="2090">
                <a:solidFill>
                  <a:srgbClr val="475569"/>
                </a:solidFill>
                <a:latin typeface="Montserrat"/>
                <a:ea typeface="Montserrat"/>
                <a:cs typeface="Montserrat"/>
                <a:sym typeface="Montserrat"/>
              </a:rPr>
              <a:t>Extensive Hyperparameter Tuning: We plan to systematically experi- ment with speciation compatibility thresholds (c1, c2, c3) and structural mu- tation rates to optimize the balance between the exploration of new topolo- gies and the exploitation of fit weights. </a:t>
            </a:r>
          </a:p>
          <a:p>
            <a:pPr algn="l" marL="451343" indent="-225672" lvl="1">
              <a:lnSpc>
                <a:spcPts val="3762"/>
              </a:lnSpc>
              <a:buAutoNum type="arabicPeriod" startAt="1"/>
            </a:pPr>
            <a:r>
              <a:rPr lang="en-US" sz="2090">
                <a:solidFill>
                  <a:srgbClr val="475569"/>
                </a:solidFill>
                <a:latin typeface="Montserrat"/>
                <a:ea typeface="Montserrat"/>
                <a:cs typeface="Montserrat"/>
                <a:sym typeface="Montserrat"/>
              </a:rPr>
              <a:t> Advanced Encoding Schemes: We will explore variations like Hyper- NEAT to allow for indirect encoding of spatial patterns, which could dra- matically reduce the structural complexity required to process larger visual grids. </a:t>
            </a:r>
          </a:p>
          <a:p>
            <a:pPr algn="l" marL="451343" indent="-225672" lvl="1">
              <a:lnSpc>
                <a:spcPts val="3762"/>
              </a:lnSpc>
              <a:buAutoNum type="arabicPeriod" startAt="1"/>
            </a:pPr>
            <a:r>
              <a:rPr lang="en-US" sz="2090">
                <a:solidFill>
                  <a:srgbClr val="475569"/>
                </a:solidFill>
                <a:latin typeface="Montserrat"/>
                <a:ea typeface="Montserrat"/>
                <a:cs typeface="Montserrat"/>
                <a:sym typeface="Montserrat"/>
              </a:rPr>
              <a:t> Novelty Search Integration: We plan to integrate Novelty Search along- side objective fitness to encourage exploration beyond raw distance progres- sion, helping agents discover unique jump trajectories and bypass deceptive local optima. </a:t>
            </a:r>
          </a:p>
          <a:p>
            <a:pPr algn="l" marL="451343" indent="-225672" lvl="1">
              <a:lnSpc>
                <a:spcPts val="3762"/>
              </a:lnSpc>
              <a:buAutoNum type="arabicPeriod" startAt="1"/>
            </a:pPr>
            <a:r>
              <a:rPr lang="en-US" sz="2090">
                <a:solidFill>
                  <a:srgbClr val="475569"/>
                </a:solidFill>
                <a:latin typeface="Montserrat"/>
                <a:ea typeface="Montserrat"/>
                <a:cs typeface="Montserrat"/>
                <a:sym typeface="Montserrat"/>
              </a:rPr>
              <a:t> Multi-Level Generalization: Our final goal is to expand the training regime beyond Level 1-1, ensuring the agent learns generalized platforming heuristics rather than relying solely on sequence memorization for a specific stage.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6243638"/>
            <a:ext cx="5525219"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Conclusion</a:t>
            </a:r>
          </a:p>
        </p:txBody>
      </p:sp>
      <p:grpSp>
        <p:nvGrpSpPr>
          <p:cNvPr name="Group 3" id="3"/>
          <p:cNvGrpSpPr/>
          <p:nvPr/>
        </p:nvGrpSpPr>
        <p:grpSpPr>
          <a:xfrm rot="0">
            <a:off x="871538" y="6229350"/>
            <a:ext cx="71438" cy="557212"/>
            <a:chOff x="0" y="0"/>
            <a:chExt cx="95250" cy="742950"/>
          </a:xfrm>
        </p:grpSpPr>
        <p:sp>
          <p:nvSpPr>
            <p:cNvPr name="Freeform 4" id="4"/>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5" id="5"/>
          <p:cNvGrpSpPr/>
          <p:nvPr/>
        </p:nvGrpSpPr>
        <p:grpSpPr>
          <a:xfrm rot="0">
            <a:off x="16370803" y="5696448"/>
            <a:ext cx="1281629" cy="1273842"/>
            <a:chOff x="0" y="0"/>
            <a:chExt cx="3028798" cy="3010395"/>
          </a:xfrm>
        </p:grpSpPr>
        <p:sp>
          <p:nvSpPr>
            <p:cNvPr name="Freeform 6" id="6"/>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3"/>
              <a:stretch>
                <a:fillRect l="0" t="-305" r="0" b="-305"/>
              </a:stretch>
            </a:blipFill>
          </p:spPr>
        </p:sp>
      </p:grpSp>
      <p:pic>
        <p:nvPicPr>
          <p:cNvPr name="Picture 7" id="7"/>
          <p:cNvPicPr>
            <a:picLocks noChangeAspect="true"/>
          </p:cNvPicPr>
          <p:nvPr/>
        </p:nvPicPr>
        <p:blipFill>
          <a:blip r:embed="rId4"/>
          <a:srcRect l="0" t="0" r="0" b="0"/>
          <a:stretch>
            <a:fillRect/>
          </a:stretch>
        </p:blipFill>
        <p:spPr>
          <a:xfrm flipH="false" flipV="false" rot="0">
            <a:off x="1028700" y="13447769"/>
            <a:ext cx="644894" cy="1289787"/>
          </a:xfrm>
          <a:prstGeom prst="rect">
            <a:avLst/>
          </a:prstGeom>
        </p:spPr>
      </p:pic>
      <p:pic>
        <p:nvPicPr>
          <p:cNvPr name="Picture 8" id="8"/>
          <p:cNvPicPr>
            <a:picLocks noChangeAspect="true"/>
          </p:cNvPicPr>
          <p:nvPr/>
        </p:nvPicPr>
        <p:blipFill>
          <a:blip r:embed="rId5"/>
          <a:srcRect l="0" t="0" r="0" b="0"/>
          <a:stretch>
            <a:fillRect/>
          </a:stretch>
        </p:blipFill>
        <p:spPr>
          <a:xfrm flipH="false" flipV="false" rot="0">
            <a:off x="16820640" y="14033131"/>
            <a:ext cx="491558" cy="737337"/>
          </a:xfrm>
          <a:prstGeom prst="rect">
            <a:avLst/>
          </a:prstGeom>
        </p:spPr>
      </p:pic>
      <p:sp>
        <p:nvSpPr>
          <p:cNvPr name="TextBox 9" id="9"/>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10" id="10"/>
          <p:cNvGrpSpPr/>
          <p:nvPr/>
        </p:nvGrpSpPr>
        <p:grpSpPr>
          <a:xfrm rot="0">
            <a:off x="871538" y="7045041"/>
            <a:ext cx="16544925" cy="14288"/>
            <a:chOff x="0" y="0"/>
            <a:chExt cx="22059900" cy="19050"/>
          </a:xfrm>
        </p:grpSpPr>
        <p:sp>
          <p:nvSpPr>
            <p:cNvPr name="Freeform 11" id="11"/>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
        <p:nvSpPr>
          <p:cNvPr name="TextBox 12" id="12"/>
          <p:cNvSpPr txBox="true"/>
          <p:nvPr/>
        </p:nvSpPr>
        <p:spPr>
          <a:xfrm rot="0">
            <a:off x="987743" y="8198241"/>
            <a:ext cx="16230600" cy="2786960"/>
          </a:xfrm>
          <a:prstGeom prst="rect">
            <a:avLst/>
          </a:prstGeom>
        </p:spPr>
        <p:txBody>
          <a:bodyPr anchor="t" rtlCol="false" tIns="0" lIns="0" bIns="0" rIns="0">
            <a:spAutoFit/>
          </a:bodyPr>
          <a:lstStyle/>
          <a:p>
            <a:pPr algn="l">
              <a:lnSpc>
                <a:spcPts val="3762"/>
              </a:lnSpc>
            </a:pPr>
            <a:r>
              <a:rPr lang="en-US" sz="2090">
                <a:solidFill>
                  <a:srgbClr val="475569"/>
                </a:solidFill>
                <a:latin typeface="Montserrat"/>
                <a:ea typeface="Montserrat"/>
                <a:cs typeface="Montserrat"/>
                <a:sym typeface="Montserrat"/>
              </a:rPr>
              <a:t>The mid-term objectives of establishing a robust neuroevolutionary pipeline, in- tegrating the emulator, and automating analytics tracking have been successfully met. By leveraging RAM state extraction rather than raw pixel processing, the system bypasses the massive computational requirements of standard Deep Rein- forcement Learning. Furthermore, the modular architecture—bolstered by Agile development methodologies and Docker containerization—has proven highly sta- ble, enabling rapid iteration and visualization of network topologies. The project is well-positioned to move from architectural development into large-scale evolu- tionary training.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775"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457914" y="7486650"/>
            <a:ext cx="17372171" cy="1114425"/>
          </a:xfrm>
          <a:prstGeom prst="rect">
            <a:avLst/>
          </a:prstGeom>
        </p:spPr>
        <p:txBody>
          <a:bodyPr anchor="t" rtlCol="false" tIns="0" lIns="0" bIns="0" rIns="0">
            <a:spAutoFit/>
          </a:bodyPr>
          <a:lstStyle/>
          <a:p>
            <a:pPr algn="ctr">
              <a:lnSpc>
                <a:spcPts val="8640"/>
              </a:lnSpc>
            </a:pPr>
            <a:r>
              <a:rPr lang="en-US" sz="7200">
                <a:solidFill>
                  <a:srgbClr val="4F46E5"/>
                </a:solidFill>
                <a:latin typeface="Montserrat"/>
                <a:ea typeface="Montserrat"/>
                <a:cs typeface="Montserrat"/>
                <a:sym typeface="Montserrat"/>
              </a:rPr>
              <a:t>THANK YOU!</a:t>
            </a:r>
          </a:p>
        </p:txBody>
      </p:sp>
      <p:sp>
        <p:nvSpPr>
          <p:cNvPr name="TextBox 5" id="5"/>
          <p:cNvSpPr txBox="true"/>
          <p:nvPr/>
        </p:nvSpPr>
        <p:spPr>
          <a:xfrm rot="0">
            <a:off x="871538" y="8734425"/>
            <a:ext cx="16544925" cy="666750"/>
          </a:xfrm>
          <a:prstGeom prst="rect">
            <a:avLst/>
          </a:prstGeom>
        </p:spPr>
        <p:txBody>
          <a:bodyPr anchor="t" rtlCol="false" tIns="0" lIns="0" bIns="0" rIns="0">
            <a:spAutoFit/>
          </a:bodyPr>
          <a:lstStyle/>
          <a:p>
            <a:pPr algn="ctr">
              <a:lnSpc>
                <a:spcPts val="4860"/>
              </a:lnSpc>
            </a:pPr>
            <a:r>
              <a:rPr lang="en-US" sz="2700">
                <a:solidFill>
                  <a:srgbClr val="475569"/>
                </a:solidFill>
                <a:latin typeface="Montserrat"/>
                <a:ea typeface="Montserrat"/>
                <a:cs typeface="Montserrat"/>
                <a:sym typeface="Montserrat"/>
              </a:rPr>
              <a:t>Questions &amp; Answers Session</a:t>
            </a:r>
          </a:p>
        </p:txBody>
      </p:sp>
      <p:sp>
        <p:nvSpPr>
          <p:cNvPr name="TextBox 6" id="6"/>
          <p:cNvSpPr txBox="true"/>
          <p:nvPr/>
        </p:nvSpPr>
        <p:spPr>
          <a:xfrm rot="0">
            <a:off x="871538" y="9820275"/>
            <a:ext cx="16544925" cy="666750"/>
          </a:xfrm>
          <a:prstGeom prst="rect">
            <a:avLst/>
          </a:prstGeom>
        </p:spPr>
        <p:txBody>
          <a:bodyPr anchor="t" rtlCol="false" tIns="0" lIns="0" bIns="0" rIns="0">
            <a:spAutoFit/>
          </a:bodyPr>
          <a:lstStyle/>
          <a:p>
            <a:pPr algn="ctr">
              <a:lnSpc>
                <a:spcPts val="4860"/>
              </a:lnSpc>
            </a:pPr>
            <a:r>
              <a:rPr lang="en-US" sz="2700">
                <a:solidFill>
                  <a:srgbClr val="475569"/>
                </a:solidFill>
                <a:latin typeface="Montserrat"/>
                <a:ea typeface="Montserrat"/>
                <a:cs typeface="Montserrat"/>
                <a:sym typeface="Montserrat"/>
              </a:rPr>
              <a:t>Niraj Nath | Rohan Singh | Shailaj Dahal | Supriya Poudel</a:t>
            </a:r>
          </a:p>
        </p:txBody>
      </p:sp>
      <p:sp>
        <p:nvSpPr>
          <p:cNvPr name="TextBox 7" id="7"/>
          <p:cNvSpPr txBox="true"/>
          <p:nvPr/>
        </p:nvSpPr>
        <p:spPr>
          <a:xfrm rot="0">
            <a:off x="871538" y="10906125"/>
            <a:ext cx="16544925" cy="666750"/>
          </a:xfrm>
          <a:prstGeom prst="rect">
            <a:avLst/>
          </a:prstGeom>
        </p:spPr>
        <p:txBody>
          <a:bodyPr anchor="t" rtlCol="false" tIns="0" lIns="0" bIns="0" rIns="0">
            <a:spAutoFit/>
          </a:bodyPr>
          <a:lstStyle/>
          <a:p>
            <a:pPr algn="ctr">
              <a:lnSpc>
                <a:spcPts val="4860"/>
              </a:lnSpc>
            </a:pPr>
            <a:r>
              <a:rPr lang="en-US" sz="2700">
                <a:solidFill>
                  <a:srgbClr val="475569"/>
                </a:solidFill>
                <a:latin typeface="Montserrat"/>
                <a:ea typeface="Montserrat"/>
                <a:cs typeface="Montserrat"/>
                <a:sym typeface="Montserrat"/>
              </a:rPr>
              <a:t>Department of Computer Engineering, Khwopa College of Engineering</a:t>
            </a:r>
          </a:p>
        </p:txBody>
      </p:sp>
      <p:sp>
        <p:nvSpPr>
          <p:cNvPr name="TextBox 8" id="8"/>
          <p:cNvSpPr txBox="true"/>
          <p:nvPr/>
        </p:nvSpPr>
        <p:spPr>
          <a:xfrm rot="0">
            <a:off x="871538" y="11991975"/>
            <a:ext cx="16544925" cy="666750"/>
          </a:xfrm>
          <a:prstGeom prst="rect">
            <a:avLst/>
          </a:prstGeom>
        </p:spPr>
        <p:txBody>
          <a:bodyPr anchor="t" rtlCol="false" tIns="0" lIns="0" bIns="0" rIns="0">
            <a:spAutoFit/>
          </a:bodyPr>
          <a:lstStyle/>
          <a:p>
            <a:pPr algn="ctr">
              <a:lnSpc>
                <a:spcPts val="4860"/>
              </a:lnSpc>
            </a:pPr>
            <a:r>
              <a:rPr lang="en-US" sz="2700">
                <a:solidFill>
                  <a:srgbClr val="475569"/>
                </a:solidFill>
                <a:latin typeface="Montserrat"/>
                <a:ea typeface="Montserrat"/>
                <a:cs typeface="Montserrat"/>
                <a:sym typeface="Montserrat"/>
              </a:rPr>
              <a:t>Tribhuvan University, Nepal</a:t>
            </a:r>
          </a:p>
        </p:txBody>
      </p:sp>
      <p:grpSp>
        <p:nvGrpSpPr>
          <p:cNvPr name="Group 9" id="9"/>
          <p:cNvGrpSpPr/>
          <p:nvPr/>
        </p:nvGrpSpPr>
        <p:grpSpPr>
          <a:xfrm rot="0">
            <a:off x="16370803" y="5696448"/>
            <a:ext cx="1281629" cy="1273842"/>
            <a:chOff x="0" y="0"/>
            <a:chExt cx="3028798" cy="3010395"/>
          </a:xfrm>
        </p:grpSpPr>
        <p:sp>
          <p:nvSpPr>
            <p:cNvPr name="Freeform 10" id="10"/>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4"/>
              <a:stretch>
                <a:fillRect l="0" t="-305" r="0" b="-305"/>
              </a:stretch>
            </a:blipFill>
          </p:spPr>
        </p:sp>
      </p:grpSp>
      <p:sp>
        <p:nvSpPr>
          <p:cNvPr name="TextBox 11" id="11"/>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85850" y="6229350"/>
            <a:ext cx="3341370" cy="542925"/>
          </a:xfrm>
          <a:prstGeom prst="rect">
            <a:avLst/>
          </a:prstGeom>
        </p:spPr>
        <p:txBody>
          <a:bodyPr anchor="t" rtlCol="false" tIns="0" lIns="0" bIns="0" rIns="0">
            <a:spAutoFit/>
          </a:bodyPr>
          <a:lstStyle/>
          <a:p>
            <a:pPr algn="l" marL="777240" indent="-388620" lvl="1">
              <a:lnSpc>
                <a:spcPts val="4320"/>
              </a:lnSpc>
              <a:buAutoNum type="arabicPeriod" startAt="1"/>
            </a:pPr>
            <a:r>
              <a:rPr lang="en-US" sz="3600">
                <a:solidFill>
                  <a:srgbClr val="1E293B"/>
                </a:solidFill>
                <a:latin typeface="Montserrat"/>
                <a:ea typeface="Montserrat"/>
                <a:cs typeface="Montserrat"/>
                <a:sym typeface="Montserrat"/>
              </a:rPr>
              <a:t>References</a:t>
            </a:r>
          </a:p>
        </p:txBody>
      </p:sp>
      <p:grpSp>
        <p:nvGrpSpPr>
          <p:cNvPr name="Group 5" id="5"/>
          <p:cNvGrpSpPr/>
          <p:nvPr/>
        </p:nvGrpSpPr>
        <p:grpSpPr>
          <a:xfrm rot="0">
            <a:off x="871538" y="6229350"/>
            <a:ext cx="71438" cy="557212"/>
            <a:chOff x="0" y="0"/>
            <a:chExt cx="95250" cy="742950"/>
          </a:xfrm>
        </p:grpSpPr>
        <p:sp>
          <p:nvSpPr>
            <p:cNvPr name="Freeform 6" id="6"/>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aphicFrame>
        <p:nvGraphicFramePr>
          <p:cNvPr name="Table 7" id="7"/>
          <p:cNvGraphicFramePr>
            <a:graphicFrameLocks noGrp="true"/>
          </p:cNvGraphicFramePr>
          <p:nvPr/>
        </p:nvGraphicFramePr>
        <p:xfrm>
          <a:off x="871538" y="8658225"/>
          <a:ext cx="16516350" cy="4724400"/>
        </p:xfrm>
        <a:graphic>
          <a:graphicData uri="http://schemas.openxmlformats.org/drawingml/2006/table">
            <a:tbl>
              <a:tblPr/>
              <a:tblGrid>
                <a:gridCol w="2055432"/>
                <a:gridCol w="14460918"/>
              </a:tblGrid>
              <a:tr h="1181100">
                <a:tc>
                  <a:txBody>
                    <a:bodyPr anchor="t" rtlCol="false"/>
                    <a:lstStyle/>
                    <a:p>
                      <a:pPr algn="l">
                        <a:lnSpc>
                          <a:spcPts val="2430"/>
                        </a:lnSpc>
                        <a:defRPr/>
                      </a:pPr>
                      <a:r>
                        <a:rPr lang="en-US" sz="2025">
                          <a:solidFill>
                            <a:srgbClr val="4F46E5"/>
                          </a:solidFill>
                          <a:latin typeface="Montserrat"/>
                          <a:ea typeface="Montserrat"/>
                          <a:cs typeface="Montserrat"/>
                          <a:sym typeface="Montserrat"/>
                        </a:rPr>
                        <a:t>Citation Index</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c>
                  <a:txBody>
                    <a:bodyPr anchor="t" rtlCol="false"/>
                    <a:lstStyle/>
                    <a:p>
                      <a:pPr algn="l">
                        <a:lnSpc>
                          <a:spcPts val="2430"/>
                        </a:lnSpc>
                        <a:defRPr/>
                      </a:pPr>
                      <a:r>
                        <a:rPr lang="en-US" sz="2025">
                          <a:solidFill>
                            <a:srgbClr val="4F46E5"/>
                          </a:solidFill>
                          <a:latin typeface="Montserrat"/>
                          <a:ea typeface="Montserrat"/>
                          <a:cs typeface="Montserrat"/>
                          <a:sym typeface="Montserrat"/>
                        </a:rPr>
                        <a:t>IEEE Standard Publication Details</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8FAFC"/>
                    </a:solidFill>
                  </a:tcPr>
                </a:tc>
              </a:tr>
              <a:tr h="1181100">
                <a:tc>
                  <a:txBody>
                    <a:bodyPr anchor="t" rtlCol="false"/>
                    <a:lstStyle/>
                    <a:p>
                      <a:pPr algn="l">
                        <a:lnSpc>
                          <a:spcPts val="2430"/>
                        </a:lnSpc>
                        <a:defRPr/>
                      </a:pPr>
                      <a:r>
                        <a:rPr lang="en-US" sz="2025">
                          <a:solidFill>
                            <a:srgbClr val="475569"/>
                          </a:solidFill>
                          <a:latin typeface="Montserrat"/>
                          <a:ea typeface="Montserrat"/>
                          <a:cs typeface="Montserrat"/>
                          <a:sym typeface="Montserrat"/>
                        </a:rPr>
                        <a:t>[1]</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475569"/>
                          </a:solidFill>
                          <a:latin typeface="Montserrat"/>
                          <a:ea typeface="Montserrat"/>
                          <a:cs typeface="Montserrat"/>
                          <a:sym typeface="Montserrat"/>
                        </a:rPr>
                        <a:t>K. O. Stanley and R. Miikkulainen, "Evolving Neural Networks through Augmenting Topologies," Evolutionary Computation, vol. 10, no. 2, pp. 99-127, 2002.</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r h="1181100">
                <a:tc>
                  <a:txBody>
                    <a:bodyPr anchor="t" rtlCol="false"/>
                    <a:lstStyle/>
                    <a:p>
                      <a:pPr algn="l">
                        <a:lnSpc>
                          <a:spcPts val="2430"/>
                        </a:lnSpc>
                        <a:defRPr/>
                      </a:pPr>
                      <a:r>
                        <a:rPr lang="en-US" sz="2025">
                          <a:solidFill>
                            <a:srgbClr val="475569"/>
                          </a:solidFill>
                          <a:latin typeface="Montserrat"/>
                          <a:ea typeface="Montserrat"/>
                          <a:cs typeface="Montserrat"/>
                          <a:sym typeface="Montserrat"/>
                        </a:rPr>
                        <a:t>[2]</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c>
                  <a:txBody>
                    <a:bodyPr anchor="t" rtlCol="false"/>
                    <a:lstStyle/>
                    <a:p>
                      <a:pPr algn="l">
                        <a:lnSpc>
                          <a:spcPts val="2430"/>
                        </a:lnSpc>
                        <a:defRPr/>
                      </a:pPr>
                      <a:r>
                        <a:rPr lang="en-US" sz="2025">
                          <a:solidFill>
                            <a:srgbClr val="475569"/>
                          </a:solidFill>
                          <a:latin typeface="Montserrat"/>
                          <a:ea typeface="Montserrat"/>
                          <a:cs typeface="Montserrat"/>
                          <a:sym typeface="Montserrat"/>
                        </a:rPr>
                        <a:t>V. Verma, "Applying Neural Networks and Neuroevolution of Augmenting Topologies to play Super Mario Bros," viXra.org Electronic Preprint, viXra:2008.0130v1, 2020.</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CF4"/>
                    </a:solidFill>
                  </a:tcPr>
                </a:tc>
              </a:tr>
              <a:tr h="1181100">
                <a:tc>
                  <a:txBody>
                    <a:bodyPr anchor="t" rtlCol="false"/>
                    <a:lstStyle/>
                    <a:p>
                      <a:pPr algn="l">
                        <a:lnSpc>
                          <a:spcPts val="2430"/>
                        </a:lnSpc>
                        <a:defRPr/>
                      </a:pPr>
                      <a:r>
                        <a:rPr lang="en-US" sz="2025">
                          <a:solidFill>
                            <a:srgbClr val="475569"/>
                          </a:solidFill>
                          <a:latin typeface="Montserrat"/>
                          <a:ea typeface="Montserrat"/>
                          <a:cs typeface="Montserrat"/>
                          <a:sym typeface="Montserrat"/>
                        </a:rPr>
                        <a:t>[3]</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c>
                  <a:txBody>
                    <a:bodyPr anchor="t" rtlCol="false"/>
                    <a:lstStyle/>
                    <a:p>
                      <a:pPr algn="l">
                        <a:lnSpc>
                          <a:spcPts val="2430"/>
                        </a:lnSpc>
                        <a:defRPr/>
                      </a:pPr>
                      <a:r>
                        <a:rPr lang="en-US" sz="2025">
                          <a:solidFill>
                            <a:srgbClr val="475569"/>
                          </a:solidFill>
                          <a:latin typeface="Montserrat"/>
                          <a:ea typeface="Montserrat"/>
                          <a:cs typeface="Montserrat"/>
                          <a:sym typeface="Montserrat"/>
                        </a:rPr>
                        <a:t>J. Koutnik, G. Cuccu, F. Gomez, and J. Schmidhuber, "Evolving Large-Scale Neural Networks for Vision-Based Reinforcement Learning," GECCO Proceedings, pp. 1061-1068, 2013.</a:t>
                      </a:r>
                      <a:endParaRPr lang="en-US" sz="1100"/>
                    </a:p>
                  </a:txBody>
                  <a:tcPr marL="63500" marR="63500" marT="63500" marB="63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CFD7E7"/>
                    </a:solidFill>
                  </a:tcPr>
                </a:tc>
              </a:tr>
            </a:tbl>
          </a:graphicData>
        </a:graphic>
      </p:graphicFrame>
      <p:grpSp>
        <p:nvGrpSpPr>
          <p:cNvPr name="Group 8" id="8"/>
          <p:cNvGrpSpPr/>
          <p:nvPr/>
        </p:nvGrpSpPr>
        <p:grpSpPr>
          <a:xfrm rot="0">
            <a:off x="871538" y="9822656"/>
            <a:ext cx="2037531" cy="14288"/>
            <a:chOff x="0" y="0"/>
            <a:chExt cx="2716708" cy="19050"/>
          </a:xfrm>
        </p:grpSpPr>
        <p:sp>
          <p:nvSpPr>
            <p:cNvPr name="Freeform 9" id="9"/>
            <p:cNvSpPr/>
            <p:nvPr/>
          </p:nvSpPr>
          <p:spPr>
            <a:xfrm flipH="false" flipV="false" rot="0">
              <a:off x="0" y="0"/>
              <a:ext cx="2716657" cy="19050"/>
            </a:xfrm>
            <a:custGeom>
              <a:avLst/>
              <a:gdLst/>
              <a:ahLst/>
              <a:cxnLst/>
              <a:rect r="r" b="b" t="t" l="l"/>
              <a:pathLst>
                <a:path h="19050" w="2716657">
                  <a:moveTo>
                    <a:pt x="0" y="0"/>
                  </a:moveTo>
                  <a:lnTo>
                    <a:pt x="2716657" y="0"/>
                  </a:lnTo>
                  <a:lnTo>
                    <a:pt x="2716657" y="19050"/>
                  </a:lnTo>
                  <a:lnTo>
                    <a:pt x="0" y="19050"/>
                  </a:lnTo>
                  <a:close/>
                </a:path>
              </a:pathLst>
            </a:custGeom>
            <a:solidFill>
              <a:srgbClr val="E2E8F0"/>
            </a:solidFill>
          </p:spPr>
        </p:sp>
      </p:grpSp>
      <p:grpSp>
        <p:nvGrpSpPr>
          <p:cNvPr name="Group 10" id="10"/>
          <p:cNvGrpSpPr/>
          <p:nvPr/>
        </p:nvGrpSpPr>
        <p:grpSpPr>
          <a:xfrm rot="0">
            <a:off x="2909068" y="9822656"/>
            <a:ext cx="14507394" cy="14288"/>
            <a:chOff x="0" y="0"/>
            <a:chExt cx="19343192" cy="19050"/>
          </a:xfrm>
        </p:grpSpPr>
        <p:sp>
          <p:nvSpPr>
            <p:cNvPr name="Freeform 11" id="11"/>
            <p:cNvSpPr/>
            <p:nvPr/>
          </p:nvSpPr>
          <p:spPr>
            <a:xfrm flipH="false" flipV="false" rot="0">
              <a:off x="0" y="0"/>
              <a:ext cx="19343243" cy="19050"/>
            </a:xfrm>
            <a:custGeom>
              <a:avLst/>
              <a:gdLst/>
              <a:ahLst/>
              <a:cxnLst/>
              <a:rect r="r" b="b" t="t" l="l"/>
              <a:pathLst>
                <a:path h="19050" w="19343243">
                  <a:moveTo>
                    <a:pt x="0" y="0"/>
                  </a:moveTo>
                  <a:lnTo>
                    <a:pt x="19343243" y="0"/>
                  </a:lnTo>
                  <a:lnTo>
                    <a:pt x="19343243" y="19050"/>
                  </a:lnTo>
                  <a:lnTo>
                    <a:pt x="0" y="19050"/>
                  </a:lnTo>
                  <a:close/>
                </a:path>
              </a:pathLst>
            </a:custGeom>
            <a:solidFill>
              <a:srgbClr val="E2E8F0"/>
            </a:solidFill>
          </p:spPr>
        </p:sp>
      </p:grpSp>
      <p:grpSp>
        <p:nvGrpSpPr>
          <p:cNvPr name="Group 12" id="12"/>
          <p:cNvGrpSpPr/>
          <p:nvPr/>
        </p:nvGrpSpPr>
        <p:grpSpPr>
          <a:xfrm rot="0">
            <a:off x="871538" y="11008519"/>
            <a:ext cx="2037531" cy="14288"/>
            <a:chOff x="0" y="0"/>
            <a:chExt cx="2716708" cy="19050"/>
          </a:xfrm>
        </p:grpSpPr>
        <p:sp>
          <p:nvSpPr>
            <p:cNvPr name="Freeform 13" id="13"/>
            <p:cNvSpPr/>
            <p:nvPr/>
          </p:nvSpPr>
          <p:spPr>
            <a:xfrm flipH="false" flipV="false" rot="0">
              <a:off x="0" y="0"/>
              <a:ext cx="2716657" cy="19050"/>
            </a:xfrm>
            <a:custGeom>
              <a:avLst/>
              <a:gdLst/>
              <a:ahLst/>
              <a:cxnLst/>
              <a:rect r="r" b="b" t="t" l="l"/>
              <a:pathLst>
                <a:path h="19050" w="2716657">
                  <a:moveTo>
                    <a:pt x="0" y="0"/>
                  </a:moveTo>
                  <a:lnTo>
                    <a:pt x="2716657" y="0"/>
                  </a:lnTo>
                  <a:lnTo>
                    <a:pt x="2716657" y="19050"/>
                  </a:lnTo>
                  <a:lnTo>
                    <a:pt x="0" y="19050"/>
                  </a:lnTo>
                  <a:close/>
                </a:path>
              </a:pathLst>
            </a:custGeom>
            <a:solidFill>
              <a:srgbClr val="E2E8F0"/>
            </a:solidFill>
          </p:spPr>
        </p:sp>
      </p:grpSp>
      <p:grpSp>
        <p:nvGrpSpPr>
          <p:cNvPr name="Group 14" id="14"/>
          <p:cNvGrpSpPr/>
          <p:nvPr/>
        </p:nvGrpSpPr>
        <p:grpSpPr>
          <a:xfrm rot="0">
            <a:off x="2909068" y="11008519"/>
            <a:ext cx="14507394" cy="14288"/>
            <a:chOff x="0" y="0"/>
            <a:chExt cx="19343192" cy="19050"/>
          </a:xfrm>
        </p:grpSpPr>
        <p:sp>
          <p:nvSpPr>
            <p:cNvPr name="Freeform 15" id="15"/>
            <p:cNvSpPr/>
            <p:nvPr/>
          </p:nvSpPr>
          <p:spPr>
            <a:xfrm flipH="false" flipV="false" rot="0">
              <a:off x="0" y="0"/>
              <a:ext cx="19343243" cy="19050"/>
            </a:xfrm>
            <a:custGeom>
              <a:avLst/>
              <a:gdLst/>
              <a:ahLst/>
              <a:cxnLst/>
              <a:rect r="r" b="b" t="t" l="l"/>
              <a:pathLst>
                <a:path h="19050" w="19343243">
                  <a:moveTo>
                    <a:pt x="0" y="0"/>
                  </a:moveTo>
                  <a:lnTo>
                    <a:pt x="19343243" y="0"/>
                  </a:lnTo>
                  <a:lnTo>
                    <a:pt x="19343243" y="19050"/>
                  </a:lnTo>
                  <a:lnTo>
                    <a:pt x="0" y="19050"/>
                  </a:lnTo>
                  <a:close/>
                </a:path>
              </a:pathLst>
            </a:custGeom>
            <a:solidFill>
              <a:srgbClr val="E2E8F0"/>
            </a:solidFill>
          </p:spPr>
        </p:sp>
      </p:grpSp>
      <p:grpSp>
        <p:nvGrpSpPr>
          <p:cNvPr name="Group 16" id="16"/>
          <p:cNvGrpSpPr/>
          <p:nvPr/>
        </p:nvGrpSpPr>
        <p:grpSpPr>
          <a:xfrm rot="0">
            <a:off x="871538" y="12194381"/>
            <a:ext cx="2037531" cy="14288"/>
            <a:chOff x="0" y="0"/>
            <a:chExt cx="2716708" cy="19050"/>
          </a:xfrm>
        </p:grpSpPr>
        <p:sp>
          <p:nvSpPr>
            <p:cNvPr name="Freeform 17" id="17"/>
            <p:cNvSpPr/>
            <p:nvPr/>
          </p:nvSpPr>
          <p:spPr>
            <a:xfrm flipH="false" flipV="false" rot="0">
              <a:off x="0" y="0"/>
              <a:ext cx="2716657" cy="19050"/>
            </a:xfrm>
            <a:custGeom>
              <a:avLst/>
              <a:gdLst/>
              <a:ahLst/>
              <a:cxnLst/>
              <a:rect r="r" b="b" t="t" l="l"/>
              <a:pathLst>
                <a:path h="19050" w="2716657">
                  <a:moveTo>
                    <a:pt x="0" y="0"/>
                  </a:moveTo>
                  <a:lnTo>
                    <a:pt x="2716657" y="0"/>
                  </a:lnTo>
                  <a:lnTo>
                    <a:pt x="2716657" y="19050"/>
                  </a:lnTo>
                  <a:lnTo>
                    <a:pt x="0" y="19050"/>
                  </a:lnTo>
                  <a:close/>
                </a:path>
              </a:pathLst>
            </a:custGeom>
            <a:solidFill>
              <a:srgbClr val="E2E8F0"/>
            </a:solidFill>
          </p:spPr>
        </p:sp>
      </p:grpSp>
      <p:grpSp>
        <p:nvGrpSpPr>
          <p:cNvPr name="Group 18" id="18"/>
          <p:cNvGrpSpPr/>
          <p:nvPr/>
        </p:nvGrpSpPr>
        <p:grpSpPr>
          <a:xfrm rot="0">
            <a:off x="2909068" y="12194381"/>
            <a:ext cx="14507394" cy="14288"/>
            <a:chOff x="0" y="0"/>
            <a:chExt cx="19343192" cy="19050"/>
          </a:xfrm>
        </p:grpSpPr>
        <p:sp>
          <p:nvSpPr>
            <p:cNvPr name="Freeform 19" id="19"/>
            <p:cNvSpPr/>
            <p:nvPr/>
          </p:nvSpPr>
          <p:spPr>
            <a:xfrm flipH="false" flipV="false" rot="0">
              <a:off x="0" y="0"/>
              <a:ext cx="19343243" cy="19050"/>
            </a:xfrm>
            <a:custGeom>
              <a:avLst/>
              <a:gdLst/>
              <a:ahLst/>
              <a:cxnLst/>
              <a:rect r="r" b="b" t="t" l="l"/>
              <a:pathLst>
                <a:path h="19050" w="19343243">
                  <a:moveTo>
                    <a:pt x="0" y="0"/>
                  </a:moveTo>
                  <a:lnTo>
                    <a:pt x="19343243" y="0"/>
                  </a:lnTo>
                  <a:lnTo>
                    <a:pt x="19343243" y="19050"/>
                  </a:lnTo>
                  <a:lnTo>
                    <a:pt x="0" y="19050"/>
                  </a:lnTo>
                  <a:close/>
                </a:path>
              </a:pathLst>
            </a:custGeom>
            <a:solidFill>
              <a:srgbClr val="E2E8F0"/>
            </a:solidFill>
          </p:spPr>
        </p:sp>
      </p:grpSp>
      <p:grpSp>
        <p:nvGrpSpPr>
          <p:cNvPr name="Group 20" id="20"/>
          <p:cNvGrpSpPr/>
          <p:nvPr/>
        </p:nvGrpSpPr>
        <p:grpSpPr>
          <a:xfrm rot="0">
            <a:off x="871538" y="13380244"/>
            <a:ext cx="2037531" cy="14288"/>
            <a:chOff x="0" y="0"/>
            <a:chExt cx="2716708" cy="19050"/>
          </a:xfrm>
        </p:grpSpPr>
        <p:sp>
          <p:nvSpPr>
            <p:cNvPr name="Freeform 21" id="21"/>
            <p:cNvSpPr/>
            <p:nvPr/>
          </p:nvSpPr>
          <p:spPr>
            <a:xfrm flipH="false" flipV="false" rot="0">
              <a:off x="0" y="0"/>
              <a:ext cx="2716657" cy="19050"/>
            </a:xfrm>
            <a:custGeom>
              <a:avLst/>
              <a:gdLst/>
              <a:ahLst/>
              <a:cxnLst/>
              <a:rect r="r" b="b" t="t" l="l"/>
              <a:pathLst>
                <a:path h="19050" w="2716657">
                  <a:moveTo>
                    <a:pt x="0" y="0"/>
                  </a:moveTo>
                  <a:lnTo>
                    <a:pt x="2716657" y="0"/>
                  </a:lnTo>
                  <a:lnTo>
                    <a:pt x="2716657" y="19050"/>
                  </a:lnTo>
                  <a:lnTo>
                    <a:pt x="0" y="19050"/>
                  </a:lnTo>
                  <a:close/>
                </a:path>
              </a:pathLst>
            </a:custGeom>
            <a:solidFill>
              <a:srgbClr val="E2E8F0"/>
            </a:solidFill>
          </p:spPr>
        </p:sp>
      </p:grpSp>
      <p:grpSp>
        <p:nvGrpSpPr>
          <p:cNvPr name="Group 22" id="22"/>
          <p:cNvGrpSpPr/>
          <p:nvPr/>
        </p:nvGrpSpPr>
        <p:grpSpPr>
          <a:xfrm rot="0">
            <a:off x="2909068" y="13380244"/>
            <a:ext cx="14507394" cy="14288"/>
            <a:chOff x="0" y="0"/>
            <a:chExt cx="19343192" cy="19050"/>
          </a:xfrm>
        </p:grpSpPr>
        <p:sp>
          <p:nvSpPr>
            <p:cNvPr name="Freeform 23" id="23"/>
            <p:cNvSpPr/>
            <p:nvPr/>
          </p:nvSpPr>
          <p:spPr>
            <a:xfrm flipH="false" flipV="false" rot="0">
              <a:off x="0" y="0"/>
              <a:ext cx="19343243" cy="19050"/>
            </a:xfrm>
            <a:custGeom>
              <a:avLst/>
              <a:gdLst/>
              <a:ahLst/>
              <a:cxnLst/>
              <a:rect r="r" b="b" t="t" l="l"/>
              <a:pathLst>
                <a:path h="19050" w="19343243">
                  <a:moveTo>
                    <a:pt x="0" y="0"/>
                  </a:moveTo>
                  <a:lnTo>
                    <a:pt x="19343243" y="0"/>
                  </a:lnTo>
                  <a:lnTo>
                    <a:pt x="19343243" y="19050"/>
                  </a:lnTo>
                  <a:lnTo>
                    <a:pt x="0" y="19050"/>
                  </a:lnTo>
                  <a:close/>
                </a:path>
              </a:pathLst>
            </a:custGeom>
            <a:solidFill>
              <a:srgbClr val="E2E8F0"/>
            </a:solidFill>
          </p:spPr>
        </p:sp>
      </p:grpSp>
      <p:grpSp>
        <p:nvGrpSpPr>
          <p:cNvPr name="Group 24" id="24"/>
          <p:cNvGrpSpPr/>
          <p:nvPr/>
        </p:nvGrpSpPr>
        <p:grpSpPr>
          <a:xfrm rot="0">
            <a:off x="16370803" y="5696448"/>
            <a:ext cx="1281629" cy="1273842"/>
            <a:chOff x="0" y="0"/>
            <a:chExt cx="3028798" cy="3010395"/>
          </a:xfrm>
        </p:grpSpPr>
        <p:sp>
          <p:nvSpPr>
            <p:cNvPr name="Freeform 25" id="25"/>
            <p:cNvSpPr/>
            <p:nvPr/>
          </p:nvSpPr>
          <p:spPr>
            <a:xfrm flipH="false" flipV="false" rot="0">
              <a:off x="0" y="0"/>
              <a:ext cx="3028823" cy="3010408"/>
            </a:xfrm>
            <a:custGeom>
              <a:avLst/>
              <a:gdLst/>
              <a:ahLst/>
              <a:cxnLst/>
              <a:rect r="r" b="b" t="t" l="l"/>
              <a:pathLst>
                <a:path h="3010408" w="3028823">
                  <a:moveTo>
                    <a:pt x="0" y="0"/>
                  </a:moveTo>
                  <a:lnTo>
                    <a:pt x="3028823" y="0"/>
                  </a:lnTo>
                  <a:lnTo>
                    <a:pt x="3028823" y="3010408"/>
                  </a:lnTo>
                  <a:lnTo>
                    <a:pt x="0" y="3010408"/>
                  </a:lnTo>
                  <a:lnTo>
                    <a:pt x="0" y="0"/>
                  </a:lnTo>
                  <a:close/>
                </a:path>
              </a:pathLst>
            </a:custGeom>
            <a:blipFill>
              <a:blip r:embed="rId4"/>
              <a:stretch>
                <a:fillRect l="0" t="-305" r="0" b="-305"/>
              </a:stretch>
            </a:blipFill>
          </p:spPr>
        </p:sp>
      </p:grpSp>
      <p:sp>
        <p:nvSpPr>
          <p:cNvPr name="TextBox 26" id="26"/>
          <p:cNvSpPr txBox="true"/>
          <p:nvPr/>
        </p:nvSpPr>
        <p:spPr>
          <a:xfrm rot="0">
            <a:off x="1028700" y="14719514"/>
            <a:ext cx="8074343" cy="266700"/>
          </a:xfrm>
          <a:prstGeom prst="rect">
            <a:avLst/>
          </a:prstGeom>
        </p:spPr>
        <p:txBody>
          <a:bodyPr anchor="t" rtlCol="false" tIns="0" lIns="0" bIns="0" rIns="0">
            <a:spAutoFit/>
          </a:bodyPr>
          <a:lstStyle/>
          <a:p>
            <a:pPr algn="l">
              <a:lnSpc>
                <a:spcPts val="2160"/>
              </a:lnSpc>
            </a:pPr>
            <a:r>
              <a:rPr lang="en-US" sz="1800">
                <a:solidFill>
                  <a:srgbClr val="94A3B8"/>
                </a:solidFill>
                <a:latin typeface="Montserrat"/>
                <a:ea typeface="Montserrat"/>
                <a:cs typeface="Montserrat"/>
                <a:sym typeface="Montserrat"/>
              </a:rPr>
              <a:t>Khwopa College of Engineering</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Minor Project Defense</a:t>
            </a:r>
            <a:r>
              <a:rPr lang="en-US" sz="1800">
                <a:solidFill>
                  <a:srgbClr val="1E293B"/>
                </a:solidFill>
                <a:latin typeface="Montserrat"/>
                <a:ea typeface="Montserrat"/>
                <a:cs typeface="Montserrat"/>
                <a:sym typeface="Montserrat"/>
              </a:rPr>
              <a:t> </a:t>
            </a:r>
            <a:r>
              <a:rPr lang="en-US" sz="1800">
                <a:solidFill>
                  <a:srgbClr val="94A3B8"/>
                </a:solidFill>
                <a:latin typeface="Montserrat"/>
                <a:ea typeface="Montserrat"/>
                <a:cs typeface="Montserrat"/>
                <a:sym typeface="Montserrat"/>
              </a:rPr>
              <a:t>24th June 2026</a:t>
            </a:r>
          </a:p>
        </p:txBody>
      </p:sp>
      <p:grpSp>
        <p:nvGrpSpPr>
          <p:cNvPr name="Group 27" id="27"/>
          <p:cNvGrpSpPr/>
          <p:nvPr/>
        </p:nvGrpSpPr>
        <p:grpSpPr>
          <a:xfrm rot="0">
            <a:off x="871538" y="7045041"/>
            <a:ext cx="16544925" cy="14288"/>
            <a:chOff x="0" y="0"/>
            <a:chExt cx="22059900" cy="19050"/>
          </a:xfrm>
        </p:grpSpPr>
        <p:sp>
          <p:nvSpPr>
            <p:cNvPr name="Freeform 28" id="28"/>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100" y="514350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085850" y="6229350"/>
            <a:ext cx="17147143" cy="557212"/>
          </a:xfrm>
          <a:prstGeom prst="rect">
            <a:avLst/>
          </a:prstGeom>
        </p:spPr>
        <p:txBody>
          <a:bodyPr anchor="t" rtlCol="false" tIns="0" lIns="0" bIns="0" rIns="0">
            <a:spAutoFit/>
          </a:bodyPr>
          <a:lstStyle/>
          <a:p>
            <a:pPr algn="l">
              <a:lnSpc>
                <a:spcPts val="4320"/>
              </a:lnSpc>
            </a:pPr>
            <a:r>
              <a:rPr lang="en-US" sz="3600">
                <a:solidFill>
                  <a:srgbClr val="1E293B"/>
                </a:solidFill>
                <a:latin typeface="Montserrat"/>
                <a:ea typeface="Montserrat"/>
                <a:cs typeface="Montserrat"/>
                <a:sym typeface="Montserrat"/>
              </a:rPr>
              <a:t>Image Sources</a:t>
            </a:r>
          </a:p>
        </p:txBody>
      </p:sp>
      <p:grpSp>
        <p:nvGrpSpPr>
          <p:cNvPr name="Group 5" id="5"/>
          <p:cNvGrpSpPr/>
          <p:nvPr/>
        </p:nvGrpSpPr>
        <p:grpSpPr>
          <a:xfrm rot="0">
            <a:off x="871538" y="6229350"/>
            <a:ext cx="71438" cy="557212"/>
            <a:chOff x="0" y="0"/>
            <a:chExt cx="95250" cy="742950"/>
          </a:xfrm>
        </p:grpSpPr>
        <p:sp>
          <p:nvSpPr>
            <p:cNvPr name="Freeform 6" id="6"/>
            <p:cNvSpPr/>
            <p:nvPr/>
          </p:nvSpPr>
          <p:spPr>
            <a:xfrm flipH="false" flipV="false" rot="0">
              <a:off x="0" y="0"/>
              <a:ext cx="95250" cy="742950"/>
            </a:xfrm>
            <a:custGeom>
              <a:avLst/>
              <a:gdLst/>
              <a:ahLst/>
              <a:cxnLst/>
              <a:rect r="r" b="b" t="t" l="l"/>
              <a:pathLst>
                <a:path h="742950" w="95250">
                  <a:moveTo>
                    <a:pt x="0" y="0"/>
                  </a:moveTo>
                  <a:lnTo>
                    <a:pt x="95250" y="0"/>
                  </a:lnTo>
                  <a:lnTo>
                    <a:pt x="95250" y="742950"/>
                  </a:lnTo>
                  <a:lnTo>
                    <a:pt x="0" y="742950"/>
                  </a:lnTo>
                  <a:close/>
                </a:path>
              </a:pathLst>
            </a:custGeom>
            <a:solidFill>
              <a:srgbClr val="4F46E5"/>
            </a:solidFill>
          </p:spPr>
        </p:sp>
      </p:grpSp>
      <p:grpSp>
        <p:nvGrpSpPr>
          <p:cNvPr name="Group 7" id="7"/>
          <p:cNvGrpSpPr/>
          <p:nvPr/>
        </p:nvGrpSpPr>
        <p:grpSpPr>
          <a:xfrm rot="0">
            <a:off x="871538" y="9929812"/>
            <a:ext cx="1285875" cy="714375"/>
            <a:chOff x="0" y="0"/>
            <a:chExt cx="1714500" cy="952500"/>
          </a:xfrm>
        </p:grpSpPr>
        <p:sp>
          <p:nvSpPr>
            <p:cNvPr name="Freeform 8" id="8" descr="image.png"/>
            <p:cNvSpPr/>
            <p:nvPr/>
          </p:nvSpPr>
          <p:spPr>
            <a:xfrm flipH="false" flipV="false" rot="0">
              <a:off x="0" y="0"/>
              <a:ext cx="1714500" cy="952500"/>
            </a:xfrm>
            <a:custGeom>
              <a:avLst/>
              <a:gdLst/>
              <a:ahLst/>
              <a:cxnLst/>
              <a:rect r="r" b="b" t="t" l="l"/>
              <a:pathLst>
                <a:path h="952500" w="1714500">
                  <a:moveTo>
                    <a:pt x="0" y="0"/>
                  </a:moveTo>
                  <a:lnTo>
                    <a:pt x="1714500" y="0"/>
                  </a:lnTo>
                  <a:lnTo>
                    <a:pt x="1714500" y="952500"/>
                  </a:lnTo>
                  <a:lnTo>
                    <a:pt x="0" y="952500"/>
                  </a:lnTo>
                  <a:lnTo>
                    <a:pt x="0" y="0"/>
                  </a:lnTo>
                  <a:close/>
                </a:path>
              </a:pathLst>
            </a:custGeom>
            <a:blipFill>
              <a:blip r:embed="rId4"/>
              <a:stretch>
                <a:fillRect l="0" t="0" r="0" b="-2000"/>
              </a:stretch>
            </a:blipFill>
          </p:spPr>
        </p:sp>
      </p:grpSp>
      <p:sp>
        <p:nvSpPr>
          <p:cNvPr name="TextBox 9" id="9"/>
          <p:cNvSpPr txBox="true"/>
          <p:nvPr/>
        </p:nvSpPr>
        <p:spPr>
          <a:xfrm rot="0">
            <a:off x="2514600" y="9751219"/>
            <a:ext cx="14901862" cy="50006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https://hoganreviews.co.uk/wp-content/uploads/2019/05/super-mario-bros-game-1.jpg?w=490&amp;h=385</a:t>
            </a:r>
          </a:p>
        </p:txBody>
      </p:sp>
      <p:sp>
        <p:nvSpPr>
          <p:cNvPr name="TextBox 10" id="10"/>
          <p:cNvSpPr txBox="true"/>
          <p:nvPr/>
        </p:nvSpPr>
        <p:spPr>
          <a:xfrm rot="0">
            <a:off x="2514600" y="10208419"/>
            <a:ext cx="14901862" cy="500062"/>
          </a:xfrm>
          <a:prstGeom prst="rect">
            <a:avLst/>
          </a:prstGeom>
        </p:spPr>
        <p:txBody>
          <a:bodyPr anchor="t" rtlCol="false" tIns="0" lIns="0" bIns="0" rIns="0">
            <a:spAutoFit/>
          </a:bodyPr>
          <a:lstStyle/>
          <a:p>
            <a:pPr algn="l">
              <a:lnSpc>
                <a:spcPts val="3645"/>
              </a:lnSpc>
            </a:pPr>
            <a:r>
              <a:rPr lang="en-US" sz="2025">
                <a:solidFill>
                  <a:srgbClr val="475569"/>
                </a:solidFill>
                <a:latin typeface="Montserrat"/>
                <a:ea typeface="Montserrat"/>
                <a:cs typeface="Montserrat"/>
                <a:sym typeface="Montserrat"/>
              </a:rPr>
              <a:t>Source: </a:t>
            </a:r>
            <a:r>
              <a:rPr lang="en-US" sz="2025">
                <a:solidFill>
                  <a:srgbClr val="4F46E5"/>
                </a:solidFill>
                <a:latin typeface="Montserrat"/>
                <a:ea typeface="Montserrat"/>
                <a:cs typeface="Montserrat"/>
                <a:sym typeface="Montserrat"/>
              </a:rPr>
              <a:t>hoganreviews.co.uk</a:t>
            </a:r>
          </a:p>
        </p:txBody>
      </p:sp>
      <p:grpSp>
        <p:nvGrpSpPr>
          <p:cNvPr name="Group 11" id="11"/>
          <p:cNvGrpSpPr/>
          <p:nvPr/>
        </p:nvGrpSpPr>
        <p:grpSpPr>
          <a:xfrm rot="0">
            <a:off x="871538" y="7045041"/>
            <a:ext cx="16544925" cy="14288"/>
            <a:chOff x="0" y="0"/>
            <a:chExt cx="22059900" cy="19050"/>
          </a:xfrm>
        </p:grpSpPr>
        <p:sp>
          <p:nvSpPr>
            <p:cNvPr name="Freeform 12" id="12"/>
            <p:cNvSpPr/>
            <p:nvPr/>
          </p:nvSpPr>
          <p:spPr>
            <a:xfrm flipH="false" flipV="false" rot="0">
              <a:off x="0" y="0"/>
              <a:ext cx="22059900" cy="19050"/>
            </a:xfrm>
            <a:custGeom>
              <a:avLst/>
              <a:gdLst/>
              <a:ahLst/>
              <a:cxnLst/>
              <a:rect r="r" b="b" t="t" l="l"/>
              <a:pathLst>
                <a:path h="19050" w="22059900">
                  <a:moveTo>
                    <a:pt x="0" y="0"/>
                  </a:moveTo>
                  <a:lnTo>
                    <a:pt x="22059900" y="0"/>
                  </a:lnTo>
                  <a:lnTo>
                    <a:pt x="22059900" y="19050"/>
                  </a:lnTo>
                  <a:lnTo>
                    <a:pt x="0" y="19050"/>
                  </a:lnTo>
                  <a:close/>
                </a:path>
              </a:pathLst>
            </a:custGeom>
            <a:solidFill>
              <a:srgbClr val="E2E8F0"/>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DAHLmf1ZpBU</dc:identifier>
  <dcterms:modified xsi:type="dcterms:W3CDTF">2011-08-01T06:04:30Z</dcterms:modified>
  <cp:revision>1</cp:revision>
  <dc:title>NEAT on Mario</dc:title>
</cp:coreProperties>
</file>